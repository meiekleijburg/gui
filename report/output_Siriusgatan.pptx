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6858000" cy="10080625"/>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35" d="100"/>
          <a:sy n="135" d="100"/>
        </p:scale>
        <p:origin x="912" y="-406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E25A70-C8A0-8C8E-6D19-913127FFB22F}"/>
              </a:ext>
            </a:extLst>
          </p:cNvPr>
          <p:cNvSpPr>
            <a:spLocks noGrp="1"/>
          </p:cNvSpPr>
          <p:nvPr>
            <p:ph type="ctrTitle"/>
          </p:nvPr>
        </p:nvSpPr>
        <p:spPr>
          <a:xfrm>
            <a:off x="857250" y="1649770"/>
            <a:ext cx="5143500" cy="3509551"/>
          </a:xfrm>
        </p:spPr>
        <p:txBody>
          <a:bodyPr anchor="b"/>
          <a:lstStyle>
            <a:lvl1pPr algn="ctr">
              <a:defRPr sz="8819"/>
            </a:lvl1pPr>
          </a:lstStyle>
          <a:p>
            <a:r>
              <a:rPr lang="fr-FR"/>
              <a:t>Modifiez le style du titre</a:t>
            </a:r>
          </a:p>
        </p:txBody>
      </p:sp>
      <p:sp>
        <p:nvSpPr>
          <p:cNvPr id="3" name="Sous-titre 2">
            <a:extLst>
              <a:ext uri="{FF2B5EF4-FFF2-40B4-BE49-F238E27FC236}">
                <a16:creationId xmlns:a16="http://schemas.microsoft.com/office/drawing/2014/main" id="{F4297CA0-7F83-ECE7-0D49-8B607F703761}"/>
              </a:ext>
            </a:extLst>
          </p:cNvPr>
          <p:cNvSpPr>
            <a:spLocks noGrp="1"/>
          </p:cNvSpPr>
          <p:nvPr>
            <p:ph type="subTitle" idx="1"/>
          </p:nvPr>
        </p:nvSpPr>
        <p:spPr>
          <a:xfrm>
            <a:off x="857250" y="5294662"/>
            <a:ext cx="5143500" cy="2433817"/>
          </a:xfrm>
        </p:spPr>
        <p:txBody>
          <a:bodyPr/>
          <a:lstStyle>
            <a:lvl1pPr marL="0" indent="0" algn="ctr">
              <a:buNone/>
              <a:defRPr sz="3528"/>
            </a:lvl1pPr>
            <a:lvl2pPr marL="672038" indent="0" algn="ctr">
              <a:buNone/>
              <a:defRPr sz="2940"/>
            </a:lvl2pPr>
            <a:lvl3pPr marL="1344077" indent="0" algn="ctr">
              <a:buNone/>
              <a:defRPr sz="2646"/>
            </a:lvl3pPr>
            <a:lvl4pPr marL="2016115" indent="0" algn="ctr">
              <a:buNone/>
              <a:defRPr sz="2352"/>
            </a:lvl4pPr>
            <a:lvl5pPr marL="2688153" indent="0" algn="ctr">
              <a:buNone/>
              <a:defRPr sz="2352"/>
            </a:lvl5pPr>
            <a:lvl6pPr marL="3360191" indent="0" algn="ctr">
              <a:buNone/>
              <a:defRPr sz="2352"/>
            </a:lvl6pPr>
            <a:lvl7pPr marL="4032230" indent="0" algn="ctr">
              <a:buNone/>
              <a:defRPr sz="2352"/>
            </a:lvl7pPr>
            <a:lvl8pPr marL="4704268" indent="0" algn="ctr">
              <a:buNone/>
              <a:defRPr sz="2352"/>
            </a:lvl8pPr>
            <a:lvl9pPr marL="5376306" indent="0" algn="ctr">
              <a:buNone/>
              <a:defRPr sz="2352"/>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9D20152B-13D0-F9DF-0FE3-DAC3B24A8754}"/>
              </a:ext>
            </a:extLst>
          </p:cNvPr>
          <p:cNvSpPr>
            <a:spLocks noGrp="1"/>
          </p:cNvSpPr>
          <p:nvPr>
            <p:ph type="dt" sz="half" idx="10"/>
          </p:nvPr>
        </p:nvSpPr>
        <p:spPr/>
        <p:txBody>
          <a:bodyPr/>
          <a:lstStyle/>
          <a:p>
            <a:fld id="{A543AAC7-8274-459C-B44F-977E16EBBCF0}" type="datetimeFigureOut">
              <a:rPr lang="fr-FR" smtClean="0"/>
              <a:t>24/02/2026</a:t>
            </a:fld>
            <a:endParaRPr lang="fr-FR"/>
          </a:p>
        </p:txBody>
      </p:sp>
      <p:sp>
        <p:nvSpPr>
          <p:cNvPr id="5" name="Espace réservé du pied de page 4">
            <a:extLst>
              <a:ext uri="{FF2B5EF4-FFF2-40B4-BE49-F238E27FC236}">
                <a16:creationId xmlns:a16="http://schemas.microsoft.com/office/drawing/2014/main" id="{DF923CBA-91BE-DD13-20D3-D72F13C5DC9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4C43D5F-2544-2EBA-892C-5A2F518FDF5A}"/>
              </a:ext>
            </a:extLst>
          </p:cNvPr>
          <p:cNvSpPr>
            <a:spLocks noGrp="1"/>
          </p:cNvSpPr>
          <p:nvPr>
            <p:ph type="sldNum" sz="quarter" idx="12"/>
          </p:nvPr>
        </p:nvSpPr>
        <p:spPr/>
        <p:txBody>
          <a:bodyPr/>
          <a:lstStyle/>
          <a:p>
            <a:fld id="{84C22DAC-21AE-4106-A517-FBA61A8A5273}" type="slidenum">
              <a:rPr lang="fr-FR" smtClean="0"/>
              <a:t>‹N°›</a:t>
            </a:fld>
            <a:endParaRPr lang="fr-FR"/>
          </a:p>
        </p:txBody>
      </p:sp>
    </p:spTree>
    <p:extLst>
      <p:ext uri="{BB962C8B-B14F-4D97-AF65-F5344CB8AC3E}">
        <p14:creationId xmlns:p14="http://schemas.microsoft.com/office/powerpoint/2010/main" val="68785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47CFD6-2662-5A38-FC2F-91953ADF210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9023993-1038-B838-8B2D-EA166DC03318}"/>
              </a:ext>
            </a:extLst>
          </p:cNvPr>
          <p:cNvSpPr>
            <a:spLocks noGrp="1"/>
          </p:cNvSpPr>
          <p:nvPr>
            <p:ph idx="1"/>
          </p:nvPr>
        </p:nvSpPr>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E24CE8AE-D5C9-64F9-872C-691B007DCCBE}"/>
              </a:ext>
            </a:extLst>
          </p:cNvPr>
          <p:cNvSpPr>
            <a:spLocks noGrp="1"/>
          </p:cNvSpPr>
          <p:nvPr>
            <p:ph type="dt" sz="half" idx="10"/>
          </p:nvPr>
        </p:nvSpPr>
        <p:spPr/>
        <p:txBody>
          <a:bodyPr/>
          <a:lstStyle/>
          <a:p>
            <a:fld id="{A543AAC7-8274-459C-B44F-977E16EBBCF0}" type="datetimeFigureOut">
              <a:rPr lang="fr-FR" smtClean="0"/>
              <a:t>24/02/2026</a:t>
            </a:fld>
            <a:endParaRPr lang="fr-FR"/>
          </a:p>
        </p:txBody>
      </p:sp>
      <p:sp>
        <p:nvSpPr>
          <p:cNvPr id="5" name="Espace réservé du pied de page 4">
            <a:extLst>
              <a:ext uri="{FF2B5EF4-FFF2-40B4-BE49-F238E27FC236}">
                <a16:creationId xmlns:a16="http://schemas.microsoft.com/office/drawing/2014/main" id="{F529B6D1-45EE-957F-27DF-FF600C29710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DD0A1C7-5AFF-44A7-A2FE-D497A424338E}"/>
              </a:ext>
            </a:extLst>
          </p:cNvPr>
          <p:cNvSpPr>
            <a:spLocks noGrp="1"/>
          </p:cNvSpPr>
          <p:nvPr>
            <p:ph type="sldNum" sz="quarter" idx="12"/>
          </p:nvPr>
        </p:nvSpPr>
        <p:spPr/>
        <p:txBody>
          <a:bodyPr/>
          <a:lstStyle/>
          <a:p>
            <a:fld id="{84C22DAC-21AE-4106-A517-FBA61A8A5273}" type="slidenum">
              <a:rPr lang="fr-FR" smtClean="0"/>
              <a:t>‹N°›</a:t>
            </a:fld>
            <a:endParaRPr lang="fr-FR"/>
          </a:p>
        </p:txBody>
      </p:sp>
    </p:spTree>
    <p:extLst>
      <p:ext uri="{BB962C8B-B14F-4D97-AF65-F5344CB8AC3E}">
        <p14:creationId xmlns:p14="http://schemas.microsoft.com/office/powerpoint/2010/main" val="2050214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AD0EFF-D025-0620-622F-3D50069880EF}"/>
              </a:ext>
            </a:extLst>
          </p:cNvPr>
          <p:cNvSpPr>
            <a:spLocks noGrp="1"/>
          </p:cNvSpPr>
          <p:nvPr>
            <p:ph type="title"/>
          </p:nvPr>
        </p:nvSpPr>
        <p:spPr>
          <a:xfrm>
            <a:off x="467916" y="2513157"/>
            <a:ext cx="5915025" cy="4193259"/>
          </a:xfrm>
        </p:spPr>
        <p:txBody>
          <a:bodyPr anchor="b"/>
          <a:lstStyle>
            <a:lvl1pPr>
              <a:defRPr sz="8819"/>
            </a:lvl1pPr>
          </a:lstStyle>
          <a:p>
            <a:r>
              <a:rPr lang="fr-FR"/>
              <a:t>Modifiez le style du titre</a:t>
            </a:r>
          </a:p>
        </p:txBody>
      </p:sp>
      <p:sp>
        <p:nvSpPr>
          <p:cNvPr id="3" name="Espace réservé du texte 2">
            <a:extLst>
              <a:ext uri="{FF2B5EF4-FFF2-40B4-BE49-F238E27FC236}">
                <a16:creationId xmlns:a16="http://schemas.microsoft.com/office/drawing/2014/main" id="{A5754703-4D58-8EEC-4983-BBD338B958A7}"/>
              </a:ext>
            </a:extLst>
          </p:cNvPr>
          <p:cNvSpPr>
            <a:spLocks noGrp="1"/>
          </p:cNvSpPr>
          <p:nvPr>
            <p:ph type="body" idx="1"/>
          </p:nvPr>
        </p:nvSpPr>
        <p:spPr>
          <a:xfrm>
            <a:off x="467916" y="6746086"/>
            <a:ext cx="5915025" cy="2205136"/>
          </a:xfrm>
        </p:spPr>
        <p:txBody>
          <a:bodyPr/>
          <a:lstStyle>
            <a:lvl1pPr marL="0" indent="0">
              <a:buNone/>
              <a:defRPr sz="3528">
                <a:solidFill>
                  <a:schemeClr val="tx1">
                    <a:tint val="82000"/>
                  </a:schemeClr>
                </a:solidFill>
              </a:defRPr>
            </a:lvl1pPr>
            <a:lvl2pPr marL="672038" indent="0">
              <a:buNone/>
              <a:defRPr sz="2940">
                <a:solidFill>
                  <a:schemeClr val="tx1">
                    <a:tint val="82000"/>
                  </a:schemeClr>
                </a:solidFill>
              </a:defRPr>
            </a:lvl2pPr>
            <a:lvl3pPr marL="1344077" indent="0">
              <a:buNone/>
              <a:defRPr sz="2646">
                <a:solidFill>
                  <a:schemeClr val="tx1">
                    <a:tint val="82000"/>
                  </a:schemeClr>
                </a:solidFill>
              </a:defRPr>
            </a:lvl3pPr>
            <a:lvl4pPr marL="2016115" indent="0">
              <a:buNone/>
              <a:defRPr sz="2352">
                <a:solidFill>
                  <a:schemeClr val="tx1">
                    <a:tint val="82000"/>
                  </a:schemeClr>
                </a:solidFill>
              </a:defRPr>
            </a:lvl4pPr>
            <a:lvl5pPr marL="2688153" indent="0">
              <a:buNone/>
              <a:defRPr sz="2352">
                <a:solidFill>
                  <a:schemeClr val="tx1">
                    <a:tint val="82000"/>
                  </a:schemeClr>
                </a:solidFill>
              </a:defRPr>
            </a:lvl5pPr>
            <a:lvl6pPr marL="3360191" indent="0">
              <a:buNone/>
              <a:defRPr sz="2352">
                <a:solidFill>
                  <a:schemeClr val="tx1">
                    <a:tint val="82000"/>
                  </a:schemeClr>
                </a:solidFill>
              </a:defRPr>
            </a:lvl6pPr>
            <a:lvl7pPr marL="4032230" indent="0">
              <a:buNone/>
              <a:defRPr sz="2352">
                <a:solidFill>
                  <a:schemeClr val="tx1">
                    <a:tint val="82000"/>
                  </a:schemeClr>
                </a:solidFill>
              </a:defRPr>
            </a:lvl7pPr>
            <a:lvl8pPr marL="4704268" indent="0">
              <a:buNone/>
              <a:defRPr sz="2352">
                <a:solidFill>
                  <a:schemeClr val="tx1">
                    <a:tint val="82000"/>
                  </a:schemeClr>
                </a:solidFill>
              </a:defRPr>
            </a:lvl8pPr>
            <a:lvl9pPr marL="5376306" indent="0">
              <a:buNone/>
              <a:defRPr sz="2352">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14C64101-3C77-2FAA-2764-6454A5BE7BDB}"/>
              </a:ext>
            </a:extLst>
          </p:cNvPr>
          <p:cNvSpPr>
            <a:spLocks noGrp="1"/>
          </p:cNvSpPr>
          <p:nvPr>
            <p:ph type="dt" sz="half" idx="10"/>
          </p:nvPr>
        </p:nvSpPr>
        <p:spPr/>
        <p:txBody>
          <a:bodyPr/>
          <a:lstStyle/>
          <a:p>
            <a:fld id="{A543AAC7-8274-459C-B44F-977E16EBBCF0}" type="datetimeFigureOut">
              <a:rPr lang="fr-FR" smtClean="0"/>
              <a:t>24/02/2026</a:t>
            </a:fld>
            <a:endParaRPr lang="fr-FR"/>
          </a:p>
        </p:txBody>
      </p:sp>
      <p:sp>
        <p:nvSpPr>
          <p:cNvPr id="5" name="Espace réservé du pied de page 4">
            <a:extLst>
              <a:ext uri="{FF2B5EF4-FFF2-40B4-BE49-F238E27FC236}">
                <a16:creationId xmlns:a16="http://schemas.microsoft.com/office/drawing/2014/main" id="{676B65BA-AB56-0E7A-3587-25DA90AA28F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B09FB90-D119-5ABF-8306-C955EBB5FB13}"/>
              </a:ext>
            </a:extLst>
          </p:cNvPr>
          <p:cNvSpPr>
            <a:spLocks noGrp="1"/>
          </p:cNvSpPr>
          <p:nvPr>
            <p:ph type="sldNum" sz="quarter" idx="12"/>
          </p:nvPr>
        </p:nvSpPr>
        <p:spPr/>
        <p:txBody>
          <a:bodyPr/>
          <a:lstStyle/>
          <a:p>
            <a:fld id="{84C22DAC-21AE-4106-A517-FBA61A8A5273}" type="slidenum">
              <a:rPr lang="fr-FR" smtClean="0"/>
              <a:t>‹N°›</a:t>
            </a:fld>
            <a:endParaRPr lang="fr-FR"/>
          </a:p>
        </p:txBody>
      </p:sp>
    </p:spTree>
    <p:extLst>
      <p:ext uri="{BB962C8B-B14F-4D97-AF65-F5344CB8AC3E}">
        <p14:creationId xmlns:p14="http://schemas.microsoft.com/office/powerpoint/2010/main" val="2105301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EC8CF3-7C9D-985C-160E-065FBDE33FF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5F18801-BA07-7992-17A2-89B9372093E7}"/>
              </a:ext>
            </a:extLst>
          </p:cNvPr>
          <p:cNvSpPr>
            <a:spLocks noGrp="1"/>
          </p:cNvSpPr>
          <p:nvPr>
            <p:ph sz="half" idx="1"/>
          </p:nvPr>
        </p:nvSpPr>
        <p:spPr>
          <a:xfrm>
            <a:off x="471488" y="2683500"/>
            <a:ext cx="2914650" cy="639606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D9601B10-D349-2EF5-678A-E5321E45CF58}"/>
              </a:ext>
            </a:extLst>
          </p:cNvPr>
          <p:cNvSpPr>
            <a:spLocks noGrp="1"/>
          </p:cNvSpPr>
          <p:nvPr>
            <p:ph sz="half" idx="2"/>
          </p:nvPr>
        </p:nvSpPr>
        <p:spPr>
          <a:xfrm>
            <a:off x="3471863" y="2683500"/>
            <a:ext cx="2914650" cy="639606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8EBA2900-8A1F-406A-05D4-2D882ABC6820}"/>
              </a:ext>
            </a:extLst>
          </p:cNvPr>
          <p:cNvSpPr>
            <a:spLocks noGrp="1"/>
          </p:cNvSpPr>
          <p:nvPr>
            <p:ph type="dt" sz="half" idx="10"/>
          </p:nvPr>
        </p:nvSpPr>
        <p:spPr/>
        <p:txBody>
          <a:bodyPr/>
          <a:lstStyle/>
          <a:p>
            <a:fld id="{A543AAC7-8274-459C-B44F-977E16EBBCF0}" type="datetimeFigureOut">
              <a:rPr lang="fr-FR" smtClean="0"/>
              <a:t>24/02/2026</a:t>
            </a:fld>
            <a:endParaRPr lang="fr-FR"/>
          </a:p>
        </p:txBody>
      </p:sp>
      <p:sp>
        <p:nvSpPr>
          <p:cNvPr id="6" name="Espace réservé du pied de page 5">
            <a:extLst>
              <a:ext uri="{FF2B5EF4-FFF2-40B4-BE49-F238E27FC236}">
                <a16:creationId xmlns:a16="http://schemas.microsoft.com/office/drawing/2014/main" id="{BAC17F07-38BD-938A-14E2-076344A5D07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947DE8D-F69E-94A7-0AC5-1E41A740E408}"/>
              </a:ext>
            </a:extLst>
          </p:cNvPr>
          <p:cNvSpPr>
            <a:spLocks noGrp="1"/>
          </p:cNvSpPr>
          <p:nvPr>
            <p:ph type="sldNum" sz="quarter" idx="12"/>
          </p:nvPr>
        </p:nvSpPr>
        <p:spPr/>
        <p:txBody>
          <a:bodyPr/>
          <a:lstStyle/>
          <a:p>
            <a:fld id="{84C22DAC-21AE-4106-A517-FBA61A8A5273}" type="slidenum">
              <a:rPr lang="fr-FR" smtClean="0"/>
              <a:t>‹N°›</a:t>
            </a:fld>
            <a:endParaRPr lang="fr-FR"/>
          </a:p>
        </p:txBody>
      </p:sp>
    </p:spTree>
    <p:extLst>
      <p:ext uri="{BB962C8B-B14F-4D97-AF65-F5344CB8AC3E}">
        <p14:creationId xmlns:p14="http://schemas.microsoft.com/office/powerpoint/2010/main" val="1109359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8CE7E8-59B9-48DD-C2FA-EA4EBFE3B07A}"/>
              </a:ext>
            </a:extLst>
          </p:cNvPr>
          <p:cNvSpPr>
            <a:spLocks noGrp="1"/>
          </p:cNvSpPr>
          <p:nvPr>
            <p:ph type="title"/>
          </p:nvPr>
        </p:nvSpPr>
        <p:spPr>
          <a:xfrm>
            <a:off x="472381" y="536701"/>
            <a:ext cx="5915025" cy="1948455"/>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1B9AEDC-3677-8883-E64D-A08FB1FC8DD0}"/>
              </a:ext>
            </a:extLst>
          </p:cNvPr>
          <p:cNvSpPr>
            <a:spLocks noGrp="1"/>
          </p:cNvSpPr>
          <p:nvPr>
            <p:ph type="body" idx="1"/>
          </p:nvPr>
        </p:nvSpPr>
        <p:spPr>
          <a:xfrm>
            <a:off x="472381" y="2471154"/>
            <a:ext cx="2901255" cy="1211074"/>
          </a:xfrm>
        </p:spPr>
        <p:txBody>
          <a:bodyPr anchor="b"/>
          <a:lstStyle>
            <a:lvl1pPr marL="0" indent="0">
              <a:buNone/>
              <a:defRPr sz="3528" b="1"/>
            </a:lvl1pPr>
            <a:lvl2pPr marL="672038" indent="0">
              <a:buNone/>
              <a:defRPr sz="2940" b="1"/>
            </a:lvl2pPr>
            <a:lvl3pPr marL="1344077" indent="0">
              <a:buNone/>
              <a:defRPr sz="2646" b="1"/>
            </a:lvl3pPr>
            <a:lvl4pPr marL="2016115" indent="0">
              <a:buNone/>
              <a:defRPr sz="2352" b="1"/>
            </a:lvl4pPr>
            <a:lvl5pPr marL="2688153" indent="0">
              <a:buNone/>
              <a:defRPr sz="2352" b="1"/>
            </a:lvl5pPr>
            <a:lvl6pPr marL="3360191" indent="0">
              <a:buNone/>
              <a:defRPr sz="2352" b="1"/>
            </a:lvl6pPr>
            <a:lvl7pPr marL="4032230" indent="0">
              <a:buNone/>
              <a:defRPr sz="2352" b="1"/>
            </a:lvl7pPr>
            <a:lvl8pPr marL="4704268" indent="0">
              <a:buNone/>
              <a:defRPr sz="2352" b="1"/>
            </a:lvl8pPr>
            <a:lvl9pPr marL="5376306" indent="0">
              <a:buNone/>
              <a:defRPr sz="2352"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D193976-410D-441E-FD03-E04853C27D18}"/>
              </a:ext>
            </a:extLst>
          </p:cNvPr>
          <p:cNvSpPr>
            <a:spLocks noGrp="1"/>
          </p:cNvSpPr>
          <p:nvPr>
            <p:ph sz="half" idx="2"/>
          </p:nvPr>
        </p:nvSpPr>
        <p:spPr>
          <a:xfrm>
            <a:off x="472381" y="3682228"/>
            <a:ext cx="2901255" cy="541600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735DDD44-B7D6-2654-3C54-24E881F4542B}"/>
              </a:ext>
            </a:extLst>
          </p:cNvPr>
          <p:cNvSpPr>
            <a:spLocks noGrp="1"/>
          </p:cNvSpPr>
          <p:nvPr>
            <p:ph type="body" sz="quarter" idx="3"/>
          </p:nvPr>
        </p:nvSpPr>
        <p:spPr>
          <a:xfrm>
            <a:off x="3471863" y="2471154"/>
            <a:ext cx="2915543" cy="1211074"/>
          </a:xfrm>
        </p:spPr>
        <p:txBody>
          <a:bodyPr anchor="b"/>
          <a:lstStyle>
            <a:lvl1pPr marL="0" indent="0">
              <a:buNone/>
              <a:defRPr sz="3528" b="1"/>
            </a:lvl1pPr>
            <a:lvl2pPr marL="672038" indent="0">
              <a:buNone/>
              <a:defRPr sz="2940" b="1"/>
            </a:lvl2pPr>
            <a:lvl3pPr marL="1344077" indent="0">
              <a:buNone/>
              <a:defRPr sz="2646" b="1"/>
            </a:lvl3pPr>
            <a:lvl4pPr marL="2016115" indent="0">
              <a:buNone/>
              <a:defRPr sz="2352" b="1"/>
            </a:lvl4pPr>
            <a:lvl5pPr marL="2688153" indent="0">
              <a:buNone/>
              <a:defRPr sz="2352" b="1"/>
            </a:lvl5pPr>
            <a:lvl6pPr marL="3360191" indent="0">
              <a:buNone/>
              <a:defRPr sz="2352" b="1"/>
            </a:lvl6pPr>
            <a:lvl7pPr marL="4032230" indent="0">
              <a:buNone/>
              <a:defRPr sz="2352" b="1"/>
            </a:lvl7pPr>
            <a:lvl8pPr marL="4704268" indent="0">
              <a:buNone/>
              <a:defRPr sz="2352" b="1"/>
            </a:lvl8pPr>
            <a:lvl9pPr marL="5376306" indent="0">
              <a:buNone/>
              <a:defRPr sz="2352"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E557749-D7E8-FB82-D84C-C82EE5BA59BA}"/>
              </a:ext>
            </a:extLst>
          </p:cNvPr>
          <p:cNvSpPr>
            <a:spLocks noGrp="1"/>
          </p:cNvSpPr>
          <p:nvPr>
            <p:ph sz="quarter" idx="4"/>
          </p:nvPr>
        </p:nvSpPr>
        <p:spPr>
          <a:xfrm>
            <a:off x="3471863" y="3682228"/>
            <a:ext cx="2915543" cy="541600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5E5DA20F-1E9A-F91A-225A-C4FB3305A408}"/>
              </a:ext>
            </a:extLst>
          </p:cNvPr>
          <p:cNvSpPr>
            <a:spLocks noGrp="1"/>
          </p:cNvSpPr>
          <p:nvPr>
            <p:ph type="dt" sz="half" idx="10"/>
          </p:nvPr>
        </p:nvSpPr>
        <p:spPr/>
        <p:txBody>
          <a:bodyPr/>
          <a:lstStyle/>
          <a:p>
            <a:fld id="{A543AAC7-8274-459C-B44F-977E16EBBCF0}" type="datetimeFigureOut">
              <a:rPr lang="fr-FR" smtClean="0"/>
              <a:t>24/02/2026</a:t>
            </a:fld>
            <a:endParaRPr lang="fr-FR"/>
          </a:p>
        </p:txBody>
      </p:sp>
      <p:sp>
        <p:nvSpPr>
          <p:cNvPr id="8" name="Espace réservé du pied de page 7">
            <a:extLst>
              <a:ext uri="{FF2B5EF4-FFF2-40B4-BE49-F238E27FC236}">
                <a16:creationId xmlns:a16="http://schemas.microsoft.com/office/drawing/2014/main" id="{26E85F7E-7234-94A4-9A44-66DE4AD6B678}"/>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9D232F3C-0329-2E5D-CDF9-0DEF187F6029}"/>
              </a:ext>
            </a:extLst>
          </p:cNvPr>
          <p:cNvSpPr>
            <a:spLocks noGrp="1"/>
          </p:cNvSpPr>
          <p:nvPr>
            <p:ph type="sldNum" sz="quarter" idx="12"/>
          </p:nvPr>
        </p:nvSpPr>
        <p:spPr/>
        <p:txBody>
          <a:bodyPr/>
          <a:lstStyle/>
          <a:p>
            <a:fld id="{84C22DAC-21AE-4106-A517-FBA61A8A5273}" type="slidenum">
              <a:rPr lang="fr-FR" smtClean="0"/>
              <a:t>‹N°›</a:t>
            </a:fld>
            <a:endParaRPr lang="fr-FR"/>
          </a:p>
        </p:txBody>
      </p:sp>
    </p:spTree>
    <p:extLst>
      <p:ext uri="{BB962C8B-B14F-4D97-AF65-F5344CB8AC3E}">
        <p14:creationId xmlns:p14="http://schemas.microsoft.com/office/powerpoint/2010/main" val="372802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BF2E07-EA20-E56A-92B5-BAFDE527CC22}"/>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A2CEE1E-9F30-F845-97A6-D9BFCE8E9516}"/>
              </a:ext>
            </a:extLst>
          </p:cNvPr>
          <p:cNvSpPr>
            <a:spLocks noGrp="1"/>
          </p:cNvSpPr>
          <p:nvPr>
            <p:ph type="dt" sz="half" idx="10"/>
          </p:nvPr>
        </p:nvSpPr>
        <p:spPr/>
        <p:txBody>
          <a:bodyPr/>
          <a:lstStyle/>
          <a:p>
            <a:fld id="{A543AAC7-8274-459C-B44F-977E16EBBCF0}" type="datetimeFigureOut">
              <a:rPr lang="fr-FR" smtClean="0"/>
              <a:t>24/02/2026</a:t>
            </a:fld>
            <a:endParaRPr lang="fr-FR"/>
          </a:p>
        </p:txBody>
      </p:sp>
      <p:sp>
        <p:nvSpPr>
          <p:cNvPr id="4" name="Espace réservé du pied de page 3">
            <a:extLst>
              <a:ext uri="{FF2B5EF4-FFF2-40B4-BE49-F238E27FC236}">
                <a16:creationId xmlns:a16="http://schemas.microsoft.com/office/drawing/2014/main" id="{2976C810-A2DF-ED09-F970-7A14662CB691}"/>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847D1893-5DB3-6A3A-7E53-7B6EF5BEA3AE}"/>
              </a:ext>
            </a:extLst>
          </p:cNvPr>
          <p:cNvSpPr>
            <a:spLocks noGrp="1"/>
          </p:cNvSpPr>
          <p:nvPr>
            <p:ph type="sldNum" sz="quarter" idx="12"/>
          </p:nvPr>
        </p:nvSpPr>
        <p:spPr/>
        <p:txBody>
          <a:bodyPr/>
          <a:lstStyle/>
          <a:p>
            <a:fld id="{84C22DAC-21AE-4106-A517-FBA61A8A5273}" type="slidenum">
              <a:rPr lang="fr-FR" smtClean="0"/>
              <a:t>‹N°›</a:t>
            </a:fld>
            <a:endParaRPr lang="fr-FR"/>
          </a:p>
        </p:txBody>
      </p:sp>
    </p:spTree>
    <p:extLst>
      <p:ext uri="{BB962C8B-B14F-4D97-AF65-F5344CB8AC3E}">
        <p14:creationId xmlns:p14="http://schemas.microsoft.com/office/powerpoint/2010/main" val="3974543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4BAA2AD-0073-2654-B94E-65A46AFC5064}"/>
              </a:ext>
            </a:extLst>
          </p:cNvPr>
          <p:cNvSpPr>
            <a:spLocks noGrp="1"/>
          </p:cNvSpPr>
          <p:nvPr>
            <p:ph type="dt" sz="half" idx="10"/>
          </p:nvPr>
        </p:nvSpPr>
        <p:spPr/>
        <p:txBody>
          <a:bodyPr/>
          <a:lstStyle/>
          <a:p>
            <a:fld id="{A543AAC7-8274-459C-B44F-977E16EBBCF0}" type="datetimeFigureOut">
              <a:rPr lang="fr-FR" smtClean="0"/>
              <a:t>24/02/2026</a:t>
            </a:fld>
            <a:endParaRPr lang="fr-FR"/>
          </a:p>
        </p:txBody>
      </p:sp>
      <p:sp>
        <p:nvSpPr>
          <p:cNvPr id="3" name="Espace réservé du pied de page 2">
            <a:extLst>
              <a:ext uri="{FF2B5EF4-FFF2-40B4-BE49-F238E27FC236}">
                <a16:creationId xmlns:a16="http://schemas.microsoft.com/office/drawing/2014/main" id="{EE124CEC-B8EA-291D-74C4-A45DAAA5861D}"/>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E1000B5D-5050-8A37-FE4B-1FD25A2DAAEF}"/>
              </a:ext>
            </a:extLst>
          </p:cNvPr>
          <p:cNvSpPr>
            <a:spLocks noGrp="1"/>
          </p:cNvSpPr>
          <p:nvPr>
            <p:ph type="sldNum" sz="quarter" idx="12"/>
          </p:nvPr>
        </p:nvSpPr>
        <p:spPr/>
        <p:txBody>
          <a:bodyPr/>
          <a:lstStyle/>
          <a:p>
            <a:fld id="{84C22DAC-21AE-4106-A517-FBA61A8A5273}" type="slidenum">
              <a:rPr lang="fr-FR" smtClean="0"/>
              <a:t>‹N°›</a:t>
            </a:fld>
            <a:endParaRPr lang="fr-FR"/>
          </a:p>
        </p:txBody>
      </p:sp>
    </p:spTree>
    <p:extLst>
      <p:ext uri="{BB962C8B-B14F-4D97-AF65-F5344CB8AC3E}">
        <p14:creationId xmlns:p14="http://schemas.microsoft.com/office/powerpoint/2010/main" val="568881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0112E3-665F-4B04-8A5B-E3E9524A353C}"/>
              </a:ext>
            </a:extLst>
          </p:cNvPr>
          <p:cNvSpPr>
            <a:spLocks noGrp="1"/>
          </p:cNvSpPr>
          <p:nvPr>
            <p:ph type="title"/>
          </p:nvPr>
        </p:nvSpPr>
        <p:spPr>
          <a:xfrm>
            <a:off x="472381" y="672042"/>
            <a:ext cx="2211883" cy="2352146"/>
          </a:xfrm>
        </p:spPr>
        <p:txBody>
          <a:bodyPr anchor="b"/>
          <a:lstStyle>
            <a:lvl1pPr>
              <a:defRPr sz="4704"/>
            </a:lvl1pPr>
          </a:lstStyle>
          <a:p>
            <a:r>
              <a:rPr lang="fr-FR"/>
              <a:t>Modifiez le style du titre</a:t>
            </a:r>
          </a:p>
        </p:txBody>
      </p:sp>
      <p:sp>
        <p:nvSpPr>
          <p:cNvPr id="3" name="Espace réservé du contenu 2">
            <a:extLst>
              <a:ext uri="{FF2B5EF4-FFF2-40B4-BE49-F238E27FC236}">
                <a16:creationId xmlns:a16="http://schemas.microsoft.com/office/drawing/2014/main" id="{8A17A968-2D97-FB7F-0E67-26E48E9BE947}"/>
              </a:ext>
            </a:extLst>
          </p:cNvPr>
          <p:cNvSpPr>
            <a:spLocks noGrp="1"/>
          </p:cNvSpPr>
          <p:nvPr>
            <p:ph idx="1"/>
          </p:nvPr>
        </p:nvSpPr>
        <p:spPr>
          <a:xfrm>
            <a:off x="2915543" y="1451424"/>
            <a:ext cx="3471863" cy="7163777"/>
          </a:xfrm>
        </p:spPr>
        <p:txBody>
          <a:bodyPr/>
          <a:lstStyle>
            <a:lvl1pPr>
              <a:defRPr sz="4704"/>
            </a:lvl1pPr>
            <a:lvl2pPr>
              <a:defRPr sz="4116"/>
            </a:lvl2pPr>
            <a:lvl3pPr>
              <a:defRPr sz="3528"/>
            </a:lvl3pPr>
            <a:lvl4pPr>
              <a:defRPr sz="2940"/>
            </a:lvl4pPr>
            <a:lvl5pPr>
              <a:defRPr sz="2940"/>
            </a:lvl5pPr>
            <a:lvl6pPr>
              <a:defRPr sz="2940"/>
            </a:lvl6pPr>
            <a:lvl7pPr>
              <a:defRPr sz="2940"/>
            </a:lvl7pPr>
            <a:lvl8pPr>
              <a:defRPr sz="2940"/>
            </a:lvl8pPr>
            <a:lvl9pPr>
              <a:defRPr sz="294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3546EE9D-4FBD-A551-3F05-D5B5498944FB}"/>
              </a:ext>
            </a:extLst>
          </p:cNvPr>
          <p:cNvSpPr>
            <a:spLocks noGrp="1"/>
          </p:cNvSpPr>
          <p:nvPr>
            <p:ph type="body" sz="half" idx="2"/>
          </p:nvPr>
        </p:nvSpPr>
        <p:spPr>
          <a:xfrm>
            <a:off x="472381" y="3024188"/>
            <a:ext cx="2211883" cy="5602681"/>
          </a:xfrm>
        </p:spPr>
        <p:txBody>
          <a:bodyPr/>
          <a:lstStyle>
            <a:lvl1pPr marL="0" indent="0">
              <a:buNone/>
              <a:defRPr sz="2352"/>
            </a:lvl1pPr>
            <a:lvl2pPr marL="672038" indent="0">
              <a:buNone/>
              <a:defRPr sz="2058"/>
            </a:lvl2pPr>
            <a:lvl3pPr marL="1344077" indent="0">
              <a:buNone/>
              <a:defRPr sz="1764"/>
            </a:lvl3pPr>
            <a:lvl4pPr marL="2016115" indent="0">
              <a:buNone/>
              <a:defRPr sz="1470"/>
            </a:lvl4pPr>
            <a:lvl5pPr marL="2688153" indent="0">
              <a:buNone/>
              <a:defRPr sz="1470"/>
            </a:lvl5pPr>
            <a:lvl6pPr marL="3360191" indent="0">
              <a:buNone/>
              <a:defRPr sz="1470"/>
            </a:lvl6pPr>
            <a:lvl7pPr marL="4032230" indent="0">
              <a:buNone/>
              <a:defRPr sz="1470"/>
            </a:lvl7pPr>
            <a:lvl8pPr marL="4704268" indent="0">
              <a:buNone/>
              <a:defRPr sz="1470"/>
            </a:lvl8pPr>
            <a:lvl9pPr marL="5376306" indent="0">
              <a:buNone/>
              <a:defRPr sz="147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CBED046-9230-AF45-BC53-8A4DB3EA1F16}"/>
              </a:ext>
            </a:extLst>
          </p:cNvPr>
          <p:cNvSpPr>
            <a:spLocks noGrp="1"/>
          </p:cNvSpPr>
          <p:nvPr>
            <p:ph type="dt" sz="half" idx="10"/>
          </p:nvPr>
        </p:nvSpPr>
        <p:spPr/>
        <p:txBody>
          <a:bodyPr/>
          <a:lstStyle/>
          <a:p>
            <a:fld id="{A543AAC7-8274-459C-B44F-977E16EBBCF0}" type="datetimeFigureOut">
              <a:rPr lang="fr-FR" smtClean="0"/>
              <a:t>24/02/2026</a:t>
            </a:fld>
            <a:endParaRPr lang="fr-FR"/>
          </a:p>
        </p:txBody>
      </p:sp>
      <p:sp>
        <p:nvSpPr>
          <p:cNvPr id="6" name="Espace réservé du pied de page 5">
            <a:extLst>
              <a:ext uri="{FF2B5EF4-FFF2-40B4-BE49-F238E27FC236}">
                <a16:creationId xmlns:a16="http://schemas.microsoft.com/office/drawing/2014/main" id="{FE04116D-8F90-9B0A-271C-84EC3D73283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97B0196-E1EA-830F-4EC6-680481F4DC76}"/>
              </a:ext>
            </a:extLst>
          </p:cNvPr>
          <p:cNvSpPr>
            <a:spLocks noGrp="1"/>
          </p:cNvSpPr>
          <p:nvPr>
            <p:ph type="sldNum" sz="quarter" idx="12"/>
          </p:nvPr>
        </p:nvSpPr>
        <p:spPr/>
        <p:txBody>
          <a:bodyPr/>
          <a:lstStyle/>
          <a:p>
            <a:fld id="{84C22DAC-21AE-4106-A517-FBA61A8A5273}" type="slidenum">
              <a:rPr lang="fr-FR" smtClean="0"/>
              <a:t>‹N°›</a:t>
            </a:fld>
            <a:endParaRPr lang="fr-FR"/>
          </a:p>
        </p:txBody>
      </p:sp>
    </p:spTree>
    <p:extLst>
      <p:ext uri="{BB962C8B-B14F-4D97-AF65-F5344CB8AC3E}">
        <p14:creationId xmlns:p14="http://schemas.microsoft.com/office/powerpoint/2010/main" val="4045006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75CEDC-92FF-9D21-F000-12BA92AF90D1}"/>
              </a:ext>
            </a:extLst>
          </p:cNvPr>
          <p:cNvSpPr>
            <a:spLocks noGrp="1"/>
          </p:cNvSpPr>
          <p:nvPr>
            <p:ph type="title"/>
          </p:nvPr>
        </p:nvSpPr>
        <p:spPr>
          <a:xfrm>
            <a:off x="472381" y="672042"/>
            <a:ext cx="2211883" cy="2352146"/>
          </a:xfrm>
        </p:spPr>
        <p:txBody>
          <a:bodyPr anchor="b"/>
          <a:lstStyle>
            <a:lvl1pPr>
              <a:defRPr sz="4704"/>
            </a:lvl1pPr>
          </a:lstStyle>
          <a:p>
            <a:r>
              <a:rPr lang="fr-FR"/>
              <a:t>Modifiez le style du titre</a:t>
            </a:r>
          </a:p>
        </p:txBody>
      </p:sp>
      <p:sp>
        <p:nvSpPr>
          <p:cNvPr id="3" name="Espace réservé pour une image  2">
            <a:extLst>
              <a:ext uri="{FF2B5EF4-FFF2-40B4-BE49-F238E27FC236}">
                <a16:creationId xmlns:a16="http://schemas.microsoft.com/office/drawing/2014/main" id="{E59F5633-5A25-40F2-145B-CB75B1C42C33}"/>
              </a:ext>
            </a:extLst>
          </p:cNvPr>
          <p:cNvSpPr>
            <a:spLocks noGrp="1"/>
          </p:cNvSpPr>
          <p:nvPr>
            <p:ph type="pic" idx="1"/>
          </p:nvPr>
        </p:nvSpPr>
        <p:spPr>
          <a:xfrm>
            <a:off x="2915543" y="1451424"/>
            <a:ext cx="3471863" cy="7163777"/>
          </a:xfrm>
        </p:spPr>
        <p:txBody>
          <a:bodyPr/>
          <a:lstStyle>
            <a:lvl1pPr marL="0" indent="0">
              <a:buNone/>
              <a:defRPr sz="4704"/>
            </a:lvl1pPr>
            <a:lvl2pPr marL="672038" indent="0">
              <a:buNone/>
              <a:defRPr sz="4116"/>
            </a:lvl2pPr>
            <a:lvl3pPr marL="1344077" indent="0">
              <a:buNone/>
              <a:defRPr sz="3528"/>
            </a:lvl3pPr>
            <a:lvl4pPr marL="2016115" indent="0">
              <a:buNone/>
              <a:defRPr sz="2940"/>
            </a:lvl4pPr>
            <a:lvl5pPr marL="2688153" indent="0">
              <a:buNone/>
              <a:defRPr sz="2940"/>
            </a:lvl5pPr>
            <a:lvl6pPr marL="3360191" indent="0">
              <a:buNone/>
              <a:defRPr sz="2940"/>
            </a:lvl6pPr>
            <a:lvl7pPr marL="4032230" indent="0">
              <a:buNone/>
              <a:defRPr sz="2940"/>
            </a:lvl7pPr>
            <a:lvl8pPr marL="4704268" indent="0">
              <a:buNone/>
              <a:defRPr sz="2940"/>
            </a:lvl8pPr>
            <a:lvl9pPr marL="5376306" indent="0">
              <a:buNone/>
              <a:defRPr sz="2940"/>
            </a:lvl9pPr>
          </a:lstStyle>
          <a:p>
            <a:endParaRPr lang="fr-FR"/>
          </a:p>
        </p:txBody>
      </p:sp>
      <p:sp>
        <p:nvSpPr>
          <p:cNvPr id="4" name="Espace réservé du texte 3">
            <a:extLst>
              <a:ext uri="{FF2B5EF4-FFF2-40B4-BE49-F238E27FC236}">
                <a16:creationId xmlns:a16="http://schemas.microsoft.com/office/drawing/2014/main" id="{A6541E11-1EAA-A7CB-A30C-C791BDA2325B}"/>
              </a:ext>
            </a:extLst>
          </p:cNvPr>
          <p:cNvSpPr>
            <a:spLocks noGrp="1"/>
          </p:cNvSpPr>
          <p:nvPr>
            <p:ph type="body" sz="half" idx="2"/>
          </p:nvPr>
        </p:nvSpPr>
        <p:spPr>
          <a:xfrm>
            <a:off x="472381" y="3024188"/>
            <a:ext cx="2211883" cy="5602681"/>
          </a:xfrm>
        </p:spPr>
        <p:txBody>
          <a:bodyPr/>
          <a:lstStyle>
            <a:lvl1pPr marL="0" indent="0">
              <a:buNone/>
              <a:defRPr sz="2352"/>
            </a:lvl1pPr>
            <a:lvl2pPr marL="672038" indent="0">
              <a:buNone/>
              <a:defRPr sz="2058"/>
            </a:lvl2pPr>
            <a:lvl3pPr marL="1344077" indent="0">
              <a:buNone/>
              <a:defRPr sz="1764"/>
            </a:lvl3pPr>
            <a:lvl4pPr marL="2016115" indent="0">
              <a:buNone/>
              <a:defRPr sz="1470"/>
            </a:lvl4pPr>
            <a:lvl5pPr marL="2688153" indent="0">
              <a:buNone/>
              <a:defRPr sz="1470"/>
            </a:lvl5pPr>
            <a:lvl6pPr marL="3360191" indent="0">
              <a:buNone/>
              <a:defRPr sz="1470"/>
            </a:lvl6pPr>
            <a:lvl7pPr marL="4032230" indent="0">
              <a:buNone/>
              <a:defRPr sz="1470"/>
            </a:lvl7pPr>
            <a:lvl8pPr marL="4704268" indent="0">
              <a:buNone/>
              <a:defRPr sz="1470"/>
            </a:lvl8pPr>
            <a:lvl9pPr marL="5376306" indent="0">
              <a:buNone/>
              <a:defRPr sz="147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66B883D-1BC3-B1EE-C55C-7465B837E835}"/>
              </a:ext>
            </a:extLst>
          </p:cNvPr>
          <p:cNvSpPr>
            <a:spLocks noGrp="1"/>
          </p:cNvSpPr>
          <p:nvPr>
            <p:ph type="dt" sz="half" idx="10"/>
          </p:nvPr>
        </p:nvSpPr>
        <p:spPr/>
        <p:txBody>
          <a:bodyPr/>
          <a:lstStyle/>
          <a:p>
            <a:fld id="{A543AAC7-8274-459C-B44F-977E16EBBCF0}" type="datetimeFigureOut">
              <a:rPr lang="fr-FR" smtClean="0"/>
              <a:t>24/02/2026</a:t>
            </a:fld>
            <a:endParaRPr lang="fr-FR"/>
          </a:p>
        </p:txBody>
      </p:sp>
      <p:sp>
        <p:nvSpPr>
          <p:cNvPr id="6" name="Espace réservé du pied de page 5">
            <a:extLst>
              <a:ext uri="{FF2B5EF4-FFF2-40B4-BE49-F238E27FC236}">
                <a16:creationId xmlns:a16="http://schemas.microsoft.com/office/drawing/2014/main" id="{7E979283-B5DF-C2D5-1024-F291C3F73FE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82FF437-84CD-CC4F-E511-C581067B4D30}"/>
              </a:ext>
            </a:extLst>
          </p:cNvPr>
          <p:cNvSpPr>
            <a:spLocks noGrp="1"/>
          </p:cNvSpPr>
          <p:nvPr>
            <p:ph type="sldNum" sz="quarter" idx="12"/>
          </p:nvPr>
        </p:nvSpPr>
        <p:spPr/>
        <p:txBody>
          <a:bodyPr/>
          <a:lstStyle/>
          <a:p>
            <a:fld id="{84C22DAC-21AE-4106-A517-FBA61A8A5273}" type="slidenum">
              <a:rPr lang="fr-FR" smtClean="0"/>
              <a:t>‹N°›</a:t>
            </a:fld>
            <a:endParaRPr lang="fr-FR"/>
          </a:p>
        </p:txBody>
      </p:sp>
    </p:spTree>
    <p:extLst>
      <p:ext uri="{BB962C8B-B14F-4D97-AF65-F5344CB8AC3E}">
        <p14:creationId xmlns:p14="http://schemas.microsoft.com/office/powerpoint/2010/main" val="2282685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F70FED-FDBF-1F1F-6CE0-9428990DCD8C}"/>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9A8E1511-2E01-0071-E33C-631A2E2D2326}"/>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AFADDEE-11DF-CD47-94A2-91093550797A}"/>
              </a:ext>
            </a:extLst>
          </p:cNvPr>
          <p:cNvSpPr>
            <a:spLocks noGrp="1"/>
          </p:cNvSpPr>
          <p:nvPr>
            <p:ph type="dt" sz="half" idx="10"/>
          </p:nvPr>
        </p:nvSpPr>
        <p:spPr/>
        <p:txBody>
          <a:bodyPr/>
          <a:lstStyle/>
          <a:p>
            <a:fld id="{A543AAC7-8274-459C-B44F-977E16EBBCF0}" type="datetimeFigureOut">
              <a:rPr lang="fr-FR" smtClean="0"/>
              <a:t>24/02/2026</a:t>
            </a:fld>
            <a:endParaRPr lang="fr-FR"/>
          </a:p>
        </p:txBody>
      </p:sp>
      <p:sp>
        <p:nvSpPr>
          <p:cNvPr id="5" name="Espace réservé du pied de page 4">
            <a:extLst>
              <a:ext uri="{FF2B5EF4-FFF2-40B4-BE49-F238E27FC236}">
                <a16:creationId xmlns:a16="http://schemas.microsoft.com/office/drawing/2014/main" id="{7FFD74DD-32F6-8EF7-5B0C-3B06483CBE1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067F63A-1737-0C5C-1976-302BD2DE1CB1}"/>
              </a:ext>
            </a:extLst>
          </p:cNvPr>
          <p:cNvSpPr>
            <a:spLocks noGrp="1"/>
          </p:cNvSpPr>
          <p:nvPr>
            <p:ph type="sldNum" sz="quarter" idx="12"/>
          </p:nvPr>
        </p:nvSpPr>
        <p:spPr/>
        <p:txBody>
          <a:bodyPr/>
          <a:lstStyle/>
          <a:p>
            <a:fld id="{84C22DAC-21AE-4106-A517-FBA61A8A5273}" type="slidenum">
              <a:rPr lang="fr-FR" smtClean="0"/>
              <a:t>‹N°›</a:t>
            </a:fld>
            <a:endParaRPr lang="fr-FR"/>
          </a:p>
        </p:txBody>
      </p:sp>
    </p:spTree>
    <p:extLst>
      <p:ext uri="{BB962C8B-B14F-4D97-AF65-F5344CB8AC3E}">
        <p14:creationId xmlns:p14="http://schemas.microsoft.com/office/powerpoint/2010/main" val="2225709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8E595707-B690-CFD2-9A77-B2CF61880DA0}"/>
              </a:ext>
            </a:extLst>
          </p:cNvPr>
          <p:cNvSpPr>
            <a:spLocks noGrp="1"/>
          </p:cNvSpPr>
          <p:nvPr>
            <p:ph type="title" orient="vert"/>
          </p:nvPr>
        </p:nvSpPr>
        <p:spPr>
          <a:xfrm>
            <a:off x="4907756" y="536700"/>
            <a:ext cx="1478756" cy="8542864"/>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CD7D8E60-B758-0522-F6A5-8CF4192042CA}"/>
              </a:ext>
            </a:extLst>
          </p:cNvPr>
          <p:cNvSpPr>
            <a:spLocks noGrp="1"/>
          </p:cNvSpPr>
          <p:nvPr>
            <p:ph type="body" orient="vert" idx="1"/>
          </p:nvPr>
        </p:nvSpPr>
        <p:spPr>
          <a:xfrm>
            <a:off x="471487" y="536700"/>
            <a:ext cx="4350544" cy="8542864"/>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6021B99-844D-3072-0FCD-1CD714995027}"/>
              </a:ext>
            </a:extLst>
          </p:cNvPr>
          <p:cNvSpPr>
            <a:spLocks noGrp="1"/>
          </p:cNvSpPr>
          <p:nvPr>
            <p:ph type="dt" sz="half" idx="10"/>
          </p:nvPr>
        </p:nvSpPr>
        <p:spPr/>
        <p:txBody>
          <a:bodyPr/>
          <a:lstStyle/>
          <a:p>
            <a:fld id="{A543AAC7-8274-459C-B44F-977E16EBBCF0}" type="datetimeFigureOut">
              <a:rPr lang="fr-FR" smtClean="0"/>
              <a:t>24/02/2026</a:t>
            </a:fld>
            <a:endParaRPr lang="fr-FR"/>
          </a:p>
        </p:txBody>
      </p:sp>
      <p:sp>
        <p:nvSpPr>
          <p:cNvPr id="5" name="Espace réservé du pied de page 4">
            <a:extLst>
              <a:ext uri="{FF2B5EF4-FFF2-40B4-BE49-F238E27FC236}">
                <a16:creationId xmlns:a16="http://schemas.microsoft.com/office/drawing/2014/main" id="{34BC4561-7437-0287-4FFD-0A1E6C1F71E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E762785-0E0F-7345-7B7D-1C994E7C3935}"/>
              </a:ext>
            </a:extLst>
          </p:cNvPr>
          <p:cNvSpPr>
            <a:spLocks noGrp="1"/>
          </p:cNvSpPr>
          <p:nvPr>
            <p:ph type="sldNum" sz="quarter" idx="12"/>
          </p:nvPr>
        </p:nvSpPr>
        <p:spPr/>
        <p:txBody>
          <a:bodyPr/>
          <a:lstStyle/>
          <a:p>
            <a:fld id="{84C22DAC-21AE-4106-A517-FBA61A8A5273}" type="slidenum">
              <a:rPr lang="fr-FR" smtClean="0"/>
              <a:t>‹N°›</a:t>
            </a:fld>
            <a:endParaRPr lang="fr-FR"/>
          </a:p>
        </p:txBody>
      </p:sp>
    </p:spTree>
    <p:extLst>
      <p:ext uri="{BB962C8B-B14F-4D97-AF65-F5344CB8AC3E}">
        <p14:creationId xmlns:p14="http://schemas.microsoft.com/office/powerpoint/2010/main" val="706961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0201A63-A1E1-4A53-4299-3434CE491528}"/>
              </a:ext>
            </a:extLst>
          </p:cNvPr>
          <p:cNvSpPr>
            <a:spLocks noGrp="1"/>
          </p:cNvSpPr>
          <p:nvPr>
            <p:ph type="title"/>
          </p:nvPr>
        </p:nvSpPr>
        <p:spPr>
          <a:xfrm>
            <a:off x="471488" y="536701"/>
            <a:ext cx="5915025" cy="1948455"/>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0D260D74-4CE5-FAEC-5ECA-C6B4A790A3A3}"/>
              </a:ext>
            </a:extLst>
          </p:cNvPr>
          <p:cNvSpPr>
            <a:spLocks noGrp="1"/>
          </p:cNvSpPr>
          <p:nvPr>
            <p:ph type="body" idx="1"/>
          </p:nvPr>
        </p:nvSpPr>
        <p:spPr>
          <a:xfrm>
            <a:off x="471488" y="2683500"/>
            <a:ext cx="5915025" cy="639606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5EB6563-A1E5-DC79-2E78-4AE5C82CE079}"/>
              </a:ext>
            </a:extLst>
          </p:cNvPr>
          <p:cNvSpPr>
            <a:spLocks noGrp="1"/>
          </p:cNvSpPr>
          <p:nvPr>
            <p:ph type="dt" sz="half" idx="2"/>
          </p:nvPr>
        </p:nvSpPr>
        <p:spPr>
          <a:xfrm>
            <a:off x="471488" y="9343247"/>
            <a:ext cx="1543050" cy="536700"/>
          </a:xfrm>
          <a:prstGeom prst="rect">
            <a:avLst/>
          </a:prstGeom>
        </p:spPr>
        <p:txBody>
          <a:bodyPr vert="horz" lIns="91440" tIns="45720" rIns="91440" bIns="45720" rtlCol="0" anchor="ctr"/>
          <a:lstStyle>
            <a:lvl1pPr algn="l">
              <a:defRPr sz="1764">
                <a:solidFill>
                  <a:schemeClr val="tx1">
                    <a:tint val="82000"/>
                  </a:schemeClr>
                </a:solidFill>
              </a:defRPr>
            </a:lvl1pPr>
          </a:lstStyle>
          <a:p>
            <a:fld id="{A543AAC7-8274-459C-B44F-977E16EBBCF0}" type="datetimeFigureOut">
              <a:rPr lang="fr-FR" smtClean="0"/>
              <a:t>24/02/2026</a:t>
            </a:fld>
            <a:endParaRPr lang="fr-FR"/>
          </a:p>
        </p:txBody>
      </p:sp>
      <p:sp>
        <p:nvSpPr>
          <p:cNvPr id="5" name="Espace réservé du pied de page 4">
            <a:extLst>
              <a:ext uri="{FF2B5EF4-FFF2-40B4-BE49-F238E27FC236}">
                <a16:creationId xmlns:a16="http://schemas.microsoft.com/office/drawing/2014/main" id="{1341D9AF-1B8E-D5D4-C480-BC1006219C19}"/>
              </a:ext>
            </a:extLst>
          </p:cNvPr>
          <p:cNvSpPr>
            <a:spLocks noGrp="1"/>
          </p:cNvSpPr>
          <p:nvPr>
            <p:ph type="ftr" sz="quarter" idx="3"/>
          </p:nvPr>
        </p:nvSpPr>
        <p:spPr>
          <a:xfrm>
            <a:off x="2271713" y="9343247"/>
            <a:ext cx="2314575" cy="536700"/>
          </a:xfrm>
          <a:prstGeom prst="rect">
            <a:avLst/>
          </a:prstGeom>
        </p:spPr>
        <p:txBody>
          <a:bodyPr vert="horz" lIns="91440" tIns="45720" rIns="91440" bIns="45720" rtlCol="0" anchor="ctr"/>
          <a:lstStyle>
            <a:lvl1pPr algn="ctr">
              <a:defRPr sz="1764">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17D1E472-C23E-7191-FA5D-7CB3C7B831EA}"/>
              </a:ext>
            </a:extLst>
          </p:cNvPr>
          <p:cNvSpPr>
            <a:spLocks noGrp="1"/>
          </p:cNvSpPr>
          <p:nvPr>
            <p:ph type="sldNum" sz="quarter" idx="4"/>
          </p:nvPr>
        </p:nvSpPr>
        <p:spPr>
          <a:xfrm>
            <a:off x="4843463" y="9343247"/>
            <a:ext cx="1543050" cy="536700"/>
          </a:xfrm>
          <a:prstGeom prst="rect">
            <a:avLst/>
          </a:prstGeom>
        </p:spPr>
        <p:txBody>
          <a:bodyPr vert="horz" lIns="91440" tIns="45720" rIns="91440" bIns="45720" rtlCol="0" anchor="ctr"/>
          <a:lstStyle>
            <a:lvl1pPr algn="r">
              <a:defRPr sz="1764">
                <a:solidFill>
                  <a:schemeClr val="tx1">
                    <a:tint val="82000"/>
                  </a:schemeClr>
                </a:solidFill>
              </a:defRPr>
            </a:lvl1pPr>
          </a:lstStyle>
          <a:p>
            <a:fld id="{84C22DAC-21AE-4106-A517-FBA61A8A5273}" type="slidenum">
              <a:rPr lang="fr-FR" smtClean="0"/>
              <a:t>‹N°›</a:t>
            </a:fld>
            <a:endParaRPr lang="fr-FR"/>
          </a:p>
        </p:txBody>
      </p:sp>
    </p:spTree>
    <p:extLst>
      <p:ext uri="{BB962C8B-B14F-4D97-AF65-F5344CB8AC3E}">
        <p14:creationId xmlns:p14="http://schemas.microsoft.com/office/powerpoint/2010/main" val="5410106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344077" rtl="0" eaLnBrk="1" latinLnBrk="0" hangingPunct="1">
        <a:lnSpc>
          <a:spcPct val="90000"/>
        </a:lnSpc>
        <a:spcBef>
          <a:spcPct val="0"/>
        </a:spcBef>
        <a:buNone/>
        <a:defRPr sz="6468" kern="1200">
          <a:solidFill>
            <a:schemeClr val="tx1"/>
          </a:solidFill>
          <a:latin typeface="+mj-lt"/>
          <a:ea typeface="+mj-ea"/>
          <a:cs typeface="+mj-cs"/>
        </a:defRPr>
      </a:lvl1pPr>
    </p:titleStyle>
    <p:bodyStyle>
      <a:lvl1pPr marL="336019" indent="-336019" algn="l" defTabSz="1344077" rtl="0" eaLnBrk="1" latinLnBrk="0" hangingPunct="1">
        <a:lnSpc>
          <a:spcPct val="90000"/>
        </a:lnSpc>
        <a:spcBef>
          <a:spcPts val="1470"/>
        </a:spcBef>
        <a:buFont typeface="Arial" panose="020B0604020202020204" pitchFamily="34" charset="0"/>
        <a:buChar char="•"/>
        <a:defRPr sz="4116" kern="1200">
          <a:solidFill>
            <a:schemeClr val="tx1"/>
          </a:solidFill>
          <a:latin typeface="+mn-lt"/>
          <a:ea typeface="+mn-ea"/>
          <a:cs typeface="+mn-cs"/>
        </a:defRPr>
      </a:lvl1pPr>
      <a:lvl2pPr marL="1008057" indent="-336019" algn="l" defTabSz="1344077" rtl="0" eaLnBrk="1" latinLnBrk="0" hangingPunct="1">
        <a:lnSpc>
          <a:spcPct val="90000"/>
        </a:lnSpc>
        <a:spcBef>
          <a:spcPts val="735"/>
        </a:spcBef>
        <a:buFont typeface="Arial" panose="020B0604020202020204" pitchFamily="34" charset="0"/>
        <a:buChar char="•"/>
        <a:defRPr sz="3528" kern="1200">
          <a:solidFill>
            <a:schemeClr val="tx1"/>
          </a:solidFill>
          <a:latin typeface="+mn-lt"/>
          <a:ea typeface="+mn-ea"/>
          <a:cs typeface="+mn-cs"/>
        </a:defRPr>
      </a:lvl2pPr>
      <a:lvl3pPr marL="1680096" indent="-336019" algn="l" defTabSz="1344077" rtl="0" eaLnBrk="1" latinLnBrk="0" hangingPunct="1">
        <a:lnSpc>
          <a:spcPct val="90000"/>
        </a:lnSpc>
        <a:spcBef>
          <a:spcPts val="735"/>
        </a:spcBef>
        <a:buFont typeface="Arial" panose="020B0604020202020204" pitchFamily="34" charset="0"/>
        <a:buChar char="•"/>
        <a:defRPr sz="2940" kern="1200">
          <a:solidFill>
            <a:schemeClr val="tx1"/>
          </a:solidFill>
          <a:latin typeface="+mn-lt"/>
          <a:ea typeface="+mn-ea"/>
          <a:cs typeface="+mn-cs"/>
        </a:defRPr>
      </a:lvl3pPr>
      <a:lvl4pPr marL="2352134" indent="-336019" algn="l" defTabSz="1344077" rtl="0" eaLnBrk="1" latinLnBrk="0" hangingPunct="1">
        <a:lnSpc>
          <a:spcPct val="90000"/>
        </a:lnSpc>
        <a:spcBef>
          <a:spcPts val="735"/>
        </a:spcBef>
        <a:buFont typeface="Arial" panose="020B0604020202020204" pitchFamily="34" charset="0"/>
        <a:buChar char="•"/>
        <a:defRPr sz="2646" kern="1200">
          <a:solidFill>
            <a:schemeClr val="tx1"/>
          </a:solidFill>
          <a:latin typeface="+mn-lt"/>
          <a:ea typeface="+mn-ea"/>
          <a:cs typeface="+mn-cs"/>
        </a:defRPr>
      </a:lvl4pPr>
      <a:lvl5pPr marL="3024172" indent="-336019" algn="l" defTabSz="1344077" rtl="0" eaLnBrk="1" latinLnBrk="0" hangingPunct="1">
        <a:lnSpc>
          <a:spcPct val="90000"/>
        </a:lnSpc>
        <a:spcBef>
          <a:spcPts val="735"/>
        </a:spcBef>
        <a:buFont typeface="Arial" panose="020B0604020202020204" pitchFamily="34" charset="0"/>
        <a:buChar char="•"/>
        <a:defRPr sz="2646" kern="1200">
          <a:solidFill>
            <a:schemeClr val="tx1"/>
          </a:solidFill>
          <a:latin typeface="+mn-lt"/>
          <a:ea typeface="+mn-ea"/>
          <a:cs typeface="+mn-cs"/>
        </a:defRPr>
      </a:lvl5pPr>
      <a:lvl6pPr marL="3696211" indent="-336019" algn="l" defTabSz="1344077" rtl="0" eaLnBrk="1" latinLnBrk="0" hangingPunct="1">
        <a:lnSpc>
          <a:spcPct val="90000"/>
        </a:lnSpc>
        <a:spcBef>
          <a:spcPts val="735"/>
        </a:spcBef>
        <a:buFont typeface="Arial" panose="020B0604020202020204" pitchFamily="34" charset="0"/>
        <a:buChar char="•"/>
        <a:defRPr sz="2646" kern="1200">
          <a:solidFill>
            <a:schemeClr val="tx1"/>
          </a:solidFill>
          <a:latin typeface="+mn-lt"/>
          <a:ea typeface="+mn-ea"/>
          <a:cs typeface="+mn-cs"/>
        </a:defRPr>
      </a:lvl6pPr>
      <a:lvl7pPr marL="4368249" indent="-336019" algn="l" defTabSz="1344077" rtl="0" eaLnBrk="1" latinLnBrk="0" hangingPunct="1">
        <a:lnSpc>
          <a:spcPct val="90000"/>
        </a:lnSpc>
        <a:spcBef>
          <a:spcPts val="735"/>
        </a:spcBef>
        <a:buFont typeface="Arial" panose="020B0604020202020204" pitchFamily="34" charset="0"/>
        <a:buChar char="•"/>
        <a:defRPr sz="2646" kern="1200">
          <a:solidFill>
            <a:schemeClr val="tx1"/>
          </a:solidFill>
          <a:latin typeface="+mn-lt"/>
          <a:ea typeface="+mn-ea"/>
          <a:cs typeface="+mn-cs"/>
        </a:defRPr>
      </a:lvl7pPr>
      <a:lvl8pPr marL="5040287" indent="-336019" algn="l" defTabSz="1344077" rtl="0" eaLnBrk="1" latinLnBrk="0" hangingPunct="1">
        <a:lnSpc>
          <a:spcPct val="90000"/>
        </a:lnSpc>
        <a:spcBef>
          <a:spcPts val="735"/>
        </a:spcBef>
        <a:buFont typeface="Arial" panose="020B0604020202020204" pitchFamily="34" charset="0"/>
        <a:buChar char="•"/>
        <a:defRPr sz="2646" kern="1200">
          <a:solidFill>
            <a:schemeClr val="tx1"/>
          </a:solidFill>
          <a:latin typeface="+mn-lt"/>
          <a:ea typeface="+mn-ea"/>
          <a:cs typeface="+mn-cs"/>
        </a:defRPr>
      </a:lvl8pPr>
      <a:lvl9pPr marL="5712325" indent="-336019" algn="l" defTabSz="1344077" rtl="0" eaLnBrk="1" latinLnBrk="0" hangingPunct="1">
        <a:lnSpc>
          <a:spcPct val="90000"/>
        </a:lnSpc>
        <a:spcBef>
          <a:spcPts val="735"/>
        </a:spcBef>
        <a:buFont typeface="Arial" panose="020B0604020202020204" pitchFamily="34" charset="0"/>
        <a:buChar char="•"/>
        <a:defRPr sz="2646" kern="1200">
          <a:solidFill>
            <a:schemeClr val="tx1"/>
          </a:solidFill>
          <a:latin typeface="+mn-lt"/>
          <a:ea typeface="+mn-ea"/>
          <a:cs typeface="+mn-cs"/>
        </a:defRPr>
      </a:lvl9pPr>
    </p:bodyStyle>
    <p:otherStyle>
      <a:defPPr>
        <a:defRPr lang="fr-FR"/>
      </a:defPPr>
      <a:lvl1pPr marL="0" algn="l" defTabSz="1344077" rtl="0" eaLnBrk="1" latinLnBrk="0" hangingPunct="1">
        <a:defRPr sz="2646" kern="1200">
          <a:solidFill>
            <a:schemeClr val="tx1"/>
          </a:solidFill>
          <a:latin typeface="+mn-lt"/>
          <a:ea typeface="+mn-ea"/>
          <a:cs typeface="+mn-cs"/>
        </a:defRPr>
      </a:lvl1pPr>
      <a:lvl2pPr marL="672038" algn="l" defTabSz="1344077" rtl="0" eaLnBrk="1" latinLnBrk="0" hangingPunct="1">
        <a:defRPr sz="2646" kern="1200">
          <a:solidFill>
            <a:schemeClr val="tx1"/>
          </a:solidFill>
          <a:latin typeface="+mn-lt"/>
          <a:ea typeface="+mn-ea"/>
          <a:cs typeface="+mn-cs"/>
        </a:defRPr>
      </a:lvl2pPr>
      <a:lvl3pPr marL="1344077" algn="l" defTabSz="1344077" rtl="0" eaLnBrk="1" latinLnBrk="0" hangingPunct="1">
        <a:defRPr sz="2646" kern="1200">
          <a:solidFill>
            <a:schemeClr val="tx1"/>
          </a:solidFill>
          <a:latin typeface="+mn-lt"/>
          <a:ea typeface="+mn-ea"/>
          <a:cs typeface="+mn-cs"/>
        </a:defRPr>
      </a:lvl3pPr>
      <a:lvl4pPr marL="2016115" algn="l" defTabSz="1344077" rtl="0" eaLnBrk="1" latinLnBrk="0" hangingPunct="1">
        <a:defRPr sz="2646" kern="1200">
          <a:solidFill>
            <a:schemeClr val="tx1"/>
          </a:solidFill>
          <a:latin typeface="+mn-lt"/>
          <a:ea typeface="+mn-ea"/>
          <a:cs typeface="+mn-cs"/>
        </a:defRPr>
      </a:lvl4pPr>
      <a:lvl5pPr marL="2688153" algn="l" defTabSz="1344077" rtl="0" eaLnBrk="1" latinLnBrk="0" hangingPunct="1">
        <a:defRPr sz="2646" kern="1200">
          <a:solidFill>
            <a:schemeClr val="tx1"/>
          </a:solidFill>
          <a:latin typeface="+mn-lt"/>
          <a:ea typeface="+mn-ea"/>
          <a:cs typeface="+mn-cs"/>
        </a:defRPr>
      </a:lvl5pPr>
      <a:lvl6pPr marL="3360191" algn="l" defTabSz="1344077" rtl="0" eaLnBrk="1" latinLnBrk="0" hangingPunct="1">
        <a:defRPr sz="2646" kern="1200">
          <a:solidFill>
            <a:schemeClr val="tx1"/>
          </a:solidFill>
          <a:latin typeface="+mn-lt"/>
          <a:ea typeface="+mn-ea"/>
          <a:cs typeface="+mn-cs"/>
        </a:defRPr>
      </a:lvl6pPr>
      <a:lvl7pPr marL="4032230" algn="l" defTabSz="1344077" rtl="0" eaLnBrk="1" latinLnBrk="0" hangingPunct="1">
        <a:defRPr sz="2646" kern="1200">
          <a:solidFill>
            <a:schemeClr val="tx1"/>
          </a:solidFill>
          <a:latin typeface="+mn-lt"/>
          <a:ea typeface="+mn-ea"/>
          <a:cs typeface="+mn-cs"/>
        </a:defRPr>
      </a:lvl7pPr>
      <a:lvl8pPr marL="4704268" algn="l" defTabSz="1344077" rtl="0" eaLnBrk="1" latinLnBrk="0" hangingPunct="1">
        <a:defRPr sz="2646" kern="1200">
          <a:solidFill>
            <a:schemeClr val="tx1"/>
          </a:solidFill>
          <a:latin typeface="+mn-lt"/>
          <a:ea typeface="+mn-ea"/>
          <a:cs typeface="+mn-cs"/>
        </a:defRPr>
      </a:lvl8pPr>
      <a:lvl9pPr marL="5376306" algn="l" defTabSz="1344077" rtl="0" eaLnBrk="1" latinLnBrk="0" hangingPunct="1">
        <a:defRPr sz="264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www.rivus-batteries.com/" TargetMode="External"/><Relationship Id="rId5" Type="http://schemas.openxmlformats.org/officeDocument/2006/relationships/hyperlink" Target="mailto:info@rivus-batteries.com"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hyperlink" Target="http://www.rivus-batteries.com/" TargetMode="External"/><Relationship Id="rId4" Type="http://schemas.openxmlformats.org/officeDocument/2006/relationships/hyperlink" Target="mailto:info@rivus-batteries.com"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rivus-simulation-godestadsvagen.streamlit.app/" TargetMode="External"/><Relationship Id="rId5" Type="http://schemas.openxmlformats.org/officeDocument/2006/relationships/hyperlink" Target="http://www.rivus-batteries.com/" TargetMode="External"/><Relationship Id="rId4" Type="http://schemas.openxmlformats.org/officeDocument/2006/relationships/hyperlink" Target="mailto:info@rivus-batterie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19">
            <a:extLst>
              <a:ext uri="{FF2B5EF4-FFF2-40B4-BE49-F238E27FC236}">
                <a16:creationId xmlns:a16="http://schemas.microsoft.com/office/drawing/2014/main" id="{F516C21A-3468-091E-4198-6FE1E5B238B1}"/>
              </a:ext>
            </a:extLst>
          </p:cNvPr>
          <p:cNvSpPr txBox="1"/>
          <p:nvPr/>
        </p:nvSpPr>
        <p:spPr>
          <a:xfrm>
            <a:off x="432748" y="6629175"/>
            <a:ext cx="5865693" cy="255845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0">
              <a:lnSpc>
                <a:spcPct val="110000"/>
              </a:lnSpc>
              <a:spcBef>
                <a:spcPts val="0"/>
              </a:spcBef>
              <a:spcAft>
                <a:spcPts val="0"/>
              </a:spcAft>
              <a:buNone/>
              <a:tabLst/>
              <a:defRPr sz="1800" b="0" i="0" u="none" strike="noStrike" kern="0" cap="none" spc="0" baseline="0">
                <a:solidFill>
                  <a:srgbClr val="000000"/>
                </a:solidFill>
                <a:uFillTx/>
              </a:defRPr>
            </a:pPr>
            <a:r>
              <a:rPr lang="en-US" sz="1050" b="1" i="0" u="none" strike="noStrike" kern="0" cap="none" spc="0" baseline="0" dirty="0">
                <a:solidFill>
                  <a:srgbClr val="020F1E"/>
                </a:solidFill>
                <a:uFillTx/>
                <a:latin typeface="Montserrat"/>
                <a:ea typeface="Sweco Sans"/>
                <a:cs typeface="Sweco Sans"/>
              </a:rPr>
              <a:t>Specifications and parameters</a:t>
            </a:r>
          </a:p>
          <a:p>
            <a:pPr marL="0" marR="0" lvl="0" indent="0" algn="l" defTabSz="914400" rtl="0" fontAlgn="auto" hangingPunct="0">
              <a:lnSpc>
                <a:spcPct val="110000"/>
              </a:lnSpc>
              <a:spcBef>
                <a:spcPts val="0"/>
              </a:spcBef>
              <a:spcAft>
                <a:spcPts val="0"/>
              </a:spcAft>
              <a:buNone/>
              <a:tabLst/>
              <a:defRPr sz="1800" b="0" i="0" u="none" strike="noStrike" kern="0" cap="none" spc="0" baseline="0">
                <a:solidFill>
                  <a:srgbClr val="000000"/>
                </a:solidFill>
                <a:uFillTx/>
              </a:defRPr>
            </a:pPr>
            <a:r>
              <a:rPr lang="en-US" sz="900" b="0" i="0" u="none" strike="noStrike" kern="0" cap="none" spc="0" baseline="0" dirty="0">
                <a:solidFill>
                  <a:srgbClr val="020F1E"/>
                </a:solidFill>
                <a:uFillTx/>
                <a:latin typeface="Montserrat"/>
                <a:ea typeface="Sweco Sans"/>
                <a:cs typeface="Sweco Sans"/>
              </a:rPr>
              <a:t>Battery type:		Organic Flow Battery, 13-ft </a:t>
            </a:r>
          </a:p>
          <a:p>
            <a:pPr marL="0" marR="0" lvl="0" indent="0" algn="l" defTabSz="914400" rtl="0" fontAlgn="auto" hangingPunct="0">
              <a:lnSpc>
                <a:spcPct val="110000"/>
              </a:lnSpc>
              <a:spcBef>
                <a:spcPts val="0"/>
              </a:spcBef>
              <a:spcAft>
                <a:spcPts val="0"/>
              </a:spcAft>
              <a:buNone/>
              <a:tabLst/>
              <a:defRPr sz="1800" b="0" i="0" u="none" strike="noStrike" kern="0" cap="none" spc="0" baseline="0">
                <a:solidFill>
                  <a:srgbClr val="000000"/>
                </a:solidFill>
                <a:uFillTx/>
              </a:defRPr>
            </a:pPr>
            <a:r>
              <a:rPr lang="en-US" sz="900" b="0" i="0" u="none" strike="noStrike" kern="0" cap="none" spc="0" baseline="0" dirty="0">
                <a:solidFill>
                  <a:srgbClr val="020F1E"/>
                </a:solidFill>
                <a:uFillTx/>
                <a:latin typeface="Montserrat"/>
                <a:ea typeface="Sweco Sans"/>
                <a:cs typeface="Sweco Sans"/>
              </a:rPr>
              <a:t>Power rating:  		25 kW</a:t>
            </a:r>
          </a:p>
          <a:p>
            <a:pPr marL="0" marR="0" lvl="0" indent="0" algn="l" defTabSz="914400" rtl="0" fontAlgn="auto" hangingPunct="0">
              <a:lnSpc>
                <a:spcPct val="110000"/>
              </a:lnSpc>
              <a:spcBef>
                <a:spcPts val="0"/>
              </a:spcBef>
              <a:spcAft>
                <a:spcPts val="0"/>
              </a:spcAft>
              <a:buNone/>
              <a:tabLst/>
              <a:defRPr sz="1800" b="0" i="0" u="none" strike="noStrike" kern="0" cap="none" spc="0" baseline="0">
                <a:solidFill>
                  <a:srgbClr val="000000"/>
                </a:solidFill>
                <a:uFillTx/>
              </a:defRPr>
            </a:pPr>
            <a:r>
              <a:rPr lang="en-US" sz="900" b="0" i="0" u="none" strike="noStrike" kern="0" cap="none" spc="0" baseline="0" dirty="0">
                <a:solidFill>
                  <a:srgbClr val="020F1E"/>
                </a:solidFill>
                <a:uFillTx/>
                <a:latin typeface="Montserrat"/>
                <a:ea typeface="Sweco Sans"/>
                <a:cs typeface="Sweco Sans"/>
              </a:rPr>
              <a:t>Capacity rating: 	150 kWh</a:t>
            </a:r>
          </a:p>
          <a:p>
            <a:pPr marL="0" marR="0" lvl="0" indent="0" algn="l" defTabSz="914400" rtl="0" fontAlgn="auto" hangingPunct="0">
              <a:lnSpc>
                <a:spcPct val="110000"/>
              </a:lnSpc>
              <a:spcBef>
                <a:spcPts val="0"/>
              </a:spcBef>
              <a:spcAft>
                <a:spcPts val="0"/>
              </a:spcAft>
              <a:buNone/>
              <a:tabLst/>
              <a:defRPr sz="1800" b="0" i="0" u="none" strike="noStrike" kern="0" cap="none" spc="0" baseline="0">
                <a:solidFill>
                  <a:srgbClr val="000000"/>
                </a:solidFill>
                <a:uFillTx/>
              </a:defRPr>
            </a:pPr>
            <a:r>
              <a:rPr lang="en-US" sz="900" b="0" i="0" u="none" strike="noStrike" kern="0" cap="none" spc="0" baseline="0" dirty="0">
                <a:solidFill>
                  <a:srgbClr val="020F1E"/>
                </a:solidFill>
                <a:uFillTx/>
                <a:latin typeface="Montserrat"/>
                <a:ea typeface="Sweco Sans"/>
                <a:cs typeface="Sweco Sans"/>
              </a:rPr>
              <a:t>Investment cost:	€60000 (€400/kWh | Includes: battery, PCS, BoP. Excludes: Installation cost)</a:t>
            </a:r>
          </a:p>
          <a:p>
            <a:pPr marL="0" marR="0" lvl="0" indent="0" algn="l" defTabSz="914400" rtl="0" fontAlgn="auto" hangingPunct="0">
              <a:lnSpc>
                <a:spcPct val="110000"/>
              </a:lnSpc>
              <a:spcBef>
                <a:spcPts val="0"/>
              </a:spcBef>
              <a:spcAft>
                <a:spcPts val="0"/>
              </a:spcAft>
              <a:buNone/>
              <a:tabLst/>
              <a:defRPr sz="1800" b="0" i="0" u="none" strike="noStrike" kern="0" cap="none" spc="0" baseline="0">
                <a:solidFill>
                  <a:srgbClr val="000000"/>
                </a:solidFill>
                <a:uFillTx/>
              </a:defRPr>
            </a:pPr>
            <a:r>
              <a:rPr lang="en-US" sz="900" b="0" i="0" u="none" strike="noStrike" kern="0" cap="none" spc="0" baseline="0" dirty="0">
                <a:solidFill>
                  <a:srgbClr val="020F1E"/>
                </a:solidFill>
                <a:uFillTx/>
                <a:latin typeface="Montserrat"/>
                <a:ea typeface="Sweco Sans"/>
                <a:cs typeface="Sweco Sans"/>
              </a:rPr>
              <a:t>Pilot lifetime guarantee: 	&gt;5000 cycles or 7 years with &gt;70% remaining capacity</a:t>
            </a:r>
          </a:p>
          <a:p>
            <a:pPr marL="0" marR="0" lvl="0" indent="0" algn="l" defTabSz="914400" rtl="0" fontAlgn="auto" hangingPunct="0">
              <a:lnSpc>
                <a:spcPct val="110000"/>
              </a:lnSpc>
              <a:spcBef>
                <a:spcPts val="0"/>
              </a:spcBef>
              <a:spcAft>
                <a:spcPts val="0"/>
              </a:spcAft>
              <a:buNone/>
              <a:tabLst/>
              <a:defRPr sz="1800" b="0" i="0" u="none" strike="noStrike" kern="0" cap="none" spc="0" baseline="0">
                <a:solidFill>
                  <a:srgbClr val="000000"/>
                </a:solidFill>
                <a:uFillTx/>
              </a:defRPr>
            </a:pPr>
            <a:r>
              <a:rPr lang="en-US" sz="900" b="0" i="0" u="none" strike="noStrike" kern="0" cap="none" spc="0" baseline="0" dirty="0">
                <a:solidFill>
                  <a:srgbClr val="020F1E"/>
                </a:solidFill>
                <a:uFillTx/>
                <a:latin typeface="Montserrat"/>
                <a:ea typeface="Sweco Sans"/>
                <a:cs typeface="Sweco Sans"/>
              </a:rPr>
              <a:t>Round-trip efficiency: 	72.2% AC-AC</a:t>
            </a:r>
          </a:p>
          <a:p>
            <a:pPr marL="0" marR="0" lvl="0" indent="0" algn="l" defTabSz="914400" rtl="0" fontAlgn="auto" hangingPunct="0">
              <a:lnSpc>
                <a:spcPct val="110000"/>
              </a:lnSpc>
              <a:spcBef>
                <a:spcPts val="0"/>
              </a:spcBef>
              <a:spcAft>
                <a:spcPts val="0"/>
              </a:spcAft>
              <a:buNone/>
              <a:tabLst/>
              <a:defRPr sz="1800" b="0" i="0" u="none" strike="noStrike" kern="0" cap="none" spc="0" baseline="0">
                <a:solidFill>
                  <a:srgbClr val="000000"/>
                </a:solidFill>
                <a:uFillTx/>
              </a:defRPr>
            </a:pPr>
            <a:r>
              <a:rPr lang="en-US" sz="900" b="0" i="0" u="none" strike="noStrike" kern="0" cap="none" spc="0" baseline="0" dirty="0">
                <a:solidFill>
                  <a:srgbClr val="020F1E"/>
                </a:solidFill>
                <a:uFillTx/>
                <a:latin typeface="Montserrat"/>
                <a:ea typeface="Sweco Sans"/>
                <a:cs typeface="Sweco Sans"/>
              </a:rPr>
              <a:t>Operating SOC window:	100%</a:t>
            </a:r>
          </a:p>
          <a:p>
            <a:pPr marL="0" marR="0" lvl="0" indent="0" algn="l" defTabSz="914400" rtl="0" fontAlgn="auto" hangingPunct="0">
              <a:lnSpc>
                <a:spcPct val="110000"/>
              </a:lnSpc>
              <a:spcBef>
                <a:spcPts val="0"/>
              </a:spcBef>
              <a:spcAft>
                <a:spcPts val="0"/>
              </a:spcAft>
              <a:buNone/>
              <a:tabLst/>
              <a:defRPr sz="1800" b="0" i="0" u="none" strike="noStrike" kern="0" cap="none" spc="0" baseline="0">
                <a:solidFill>
                  <a:srgbClr val="000000"/>
                </a:solidFill>
                <a:uFillTx/>
              </a:defRPr>
            </a:pPr>
            <a:r>
              <a:rPr lang="en-US" sz="900" b="0" i="0" u="none" strike="noStrike" kern="0" cap="none" spc="0" baseline="0" dirty="0">
                <a:solidFill>
                  <a:srgbClr val="020F1E"/>
                </a:solidFill>
                <a:uFillTx/>
                <a:latin typeface="Montserrat"/>
                <a:ea typeface="Sweco Sans"/>
                <a:cs typeface="Sweco Sans"/>
              </a:rPr>
              <a:t>Electricity demand data: 	Jan 2025 - Nov 2025 </a:t>
            </a:r>
          </a:p>
          <a:p>
            <a:pPr lvl="0" hangingPunct="0">
              <a:lnSpc>
                <a:spcPct val="110000"/>
              </a:lnSpc>
              <a:defRPr sz="1800" b="0" i="0" u="none" strike="noStrike" kern="0" cap="none" spc="0" baseline="0">
                <a:solidFill>
                  <a:srgbClr val="000000"/>
                </a:solidFill>
                <a:uFillTx/>
              </a:defRPr>
            </a:pPr>
            <a:r>
              <a:rPr lang="en-US" sz="900" b="0" i="0" u="none" strike="noStrike" kern="0" cap="none" spc="0" baseline="0" dirty="0">
                <a:solidFill>
                  <a:srgbClr val="020F1E"/>
                </a:solidFill>
                <a:uFillTx/>
                <a:latin typeface="Montserrat"/>
                <a:ea typeface="Sweco Sans"/>
                <a:cs typeface="Sweco Sans"/>
              </a:rPr>
              <a:t>Electricity cost &amp; FCR data:	Jan 2024 – Nov</a:t>
            </a:r>
            <a:r>
              <a:rPr lang="en-US" sz="900" kern="0" dirty="0">
                <a:solidFill>
                  <a:srgbClr val="020F1E"/>
                </a:solidFill>
                <a:latin typeface="Montserrat"/>
                <a:ea typeface="Sweco Sans"/>
                <a:cs typeface="Sweco Sans"/>
              </a:rPr>
              <a:t> 2</a:t>
            </a:r>
            <a:r>
              <a:rPr lang="en-US" sz="900" b="0" i="0" u="none" strike="noStrike" kern="0" cap="none" spc="0" baseline="0" dirty="0">
                <a:solidFill>
                  <a:srgbClr val="020F1E"/>
                </a:solidFill>
                <a:uFillTx/>
                <a:latin typeface="Montserrat"/>
                <a:ea typeface="Sweco Sans"/>
                <a:cs typeface="Sweco Sans"/>
              </a:rPr>
              <a:t>025  </a:t>
            </a:r>
          </a:p>
          <a:p>
            <a:pPr marL="0" marR="0" lvl="0" indent="0" algn="l" defTabSz="914400" rtl="0" fontAlgn="auto" hangingPunct="0">
              <a:lnSpc>
                <a:spcPct val="110000"/>
              </a:lnSpc>
              <a:spcBef>
                <a:spcPts val="0"/>
              </a:spcBef>
              <a:spcAft>
                <a:spcPts val="0"/>
              </a:spcAft>
              <a:buNone/>
              <a:tabLst/>
              <a:defRPr sz="1800" b="0" i="0" u="none" strike="noStrike" kern="0" cap="none" spc="0" baseline="0">
                <a:solidFill>
                  <a:srgbClr val="000000"/>
                </a:solidFill>
                <a:uFillTx/>
              </a:defRPr>
            </a:pPr>
            <a:endParaRPr lang="en-US" sz="1000" b="0" i="0" u="none" strike="noStrike" kern="0" cap="none" spc="0" baseline="0" dirty="0">
              <a:solidFill>
                <a:srgbClr val="020F1E"/>
              </a:solidFill>
              <a:uFillTx/>
              <a:latin typeface="Montserrat"/>
              <a:ea typeface="Sweco Sans"/>
              <a:cs typeface="Sweco Sans"/>
            </a:endParaRPr>
          </a:p>
          <a:p>
            <a:pPr marL="0" marR="0" lvl="0" indent="0" algn="l" defTabSz="914400" rtl="0" fontAlgn="auto" hangingPunct="0">
              <a:lnSpc>
                <a:spcPct val="114000"/>
              </a:lnSpc>
              <a:spcBef>
                <a:spcPts val="0"/>
              </a:spcBef>
              <a:spcAft>
                <a:spcPts val="0"/>
              </a:spcAft>
              <a:buNone/>
              <a:tabLst/>
              <a:defRPr sz="1800" b="0" i="0" u="none" strike="noStrike" kern="0" cap="none" spc="0" baseline="0">
                <a:solidFill>
                  <a:srgbClr val="000000"/>
                </a:solidFill>
                <a:uFillTx/>
              </a:defRPr>
            </a:pPr>
            <a:r>
              <a:rPr lang="en-US" sz="1050" b="1" i="0" u="none" strike="noStrike" kern="0" cap="none" spc="0" baseline="0" dirty="0">
                <a:solidFill>
                  <a:srgbClr val="020F1E"/>
                </a:solidFill>
                <a:uFillTx/>
                <a:latin typeface="Montserrat"/>
                <a:ea typeface="Sweco Sans"/>
                <a:cs typeface="Sweco Sans"/>
              </a:rPr>
              <a:t>Additional Information</a:t>
            </a:r>
          </a:p>
          <a:p>
            <a:pPr marL="0" marR="0" lvl="0" indent="0" algn="l" defTabSz="914400" rtl="0" fontAlgn="auto" hangingPunct="0">
              <a:lnSpc>
                <a:spcPct val="113999"/>
              </a:lnSpc>
              <a:spcBef>
                <a:spcPts val="0"/>
              </a:spcBef>
              <a:spcAft>
                <a:spcPts val="0"/>
              </a:spcAft>
              <a:buNone/>
              <a:tabLst/>
              <a:defRPr sz="1800" b="0" i="0" u="none" strike="noStrike" kern="0" cap="none" spc="0" baseline="0">
                <a:solidFill>
                  <a:srgbClr val="000000"/>
                </a:solidFill>
                <a:uFillTx/>
              </a:defRPr>
            </a:pPr>
            <a:r>
              <a:rPr lang="en-US" sz="800" b="0" i="0" u="none" strike="noStrike" kern="0" cap="none" spc="0" baseline="0" dirty="0">
                <a:solidFill>
                  <a:srgbClr val="021C1E"/>
                </a:solidFill>
                <a:uFillTx/>
                <a:latin typeface="Montserrat" pitchFamily="2"/>
                <a:ea typeface="Roboto"/>
                <a:cs typeface="Roboto"/>
              </a:rPr>
              <a:t>Hourly demand data was provided together with hourly PV production for part of 2024 and 2025. Although after inspection we found that small irregularities might have been present within the raw demand data, we discussed with Familjebostader and decided the irregularities were negligible. </a:t>
            </a:r>
          </a:p>
        </p:txBody>
      </p:sp>
      <p:pic>
        <p:nvPicPr>
          <p:cNvPr id="7" name="Picture 2">
            <a:extLst>
              <a:ext uri="{FF2B5EF4-FFF2-40B4-BE49-F238E27FC236}">
                <a16:creationId xmlns:a16="http://schemas.microsoft.com/office/drawing/2014/main" id="{76F4C316-4D85-8DB7-84F9-E4EDD4D18216}"/>
              </a:ext>
            </a:extLst>
          </p:cNvPr>
          <p:cNvPicPr>
            <a:picLocks noChangeAspect="1"/>
          </p:cNvPicPr>
          <p:nvPr/>
        </p:nvPicPr>
        <p:blipFill>
          <a:blip r:embed="rId2"/>
          <a:srcRect t="21778" b="23084"/>
          <a:stretch>
            <a:fillRect/>
          </a:stretch>
        </p:blipFill>
        <p:spPr>
          <a:xfrm>
            <a:off x="0" y="0"/>
            <a:ext cx="6858000" cy="2127013"/>
          </a:xfrm>
          <a:prstGeom prst="rect">
            <a:avLst/>
          </a:prstGeom>
          <a:noFill/>
          <a:ln cap="flat">
            <a:noFill/>
          </a:ln>
        </p:spPr>
      </p:pic>
      <p:sp>
        <p:nvSpPr>
          <p:cNvPr id="8" name="Rektangel 12">
            <a:extLst>
              <a:ext uri="{FF2B5EF4-FFF2-40B4-BE49-F238E27FC236}">
                <a16:creationId xmlns:a16="http://schemas.microsoft.com/office/drawing/2014/main" id="{0B94C33E-FFCA-E6B3-B9BD-E37042C929D4}"/>
              </a:ext>
            </a:extLst>
          </p:cNvPr>
          <p:cNvSpPr/>
          <p:nvPr/>
        </p:nvSpPr>
        <p:spPr>
          <a:xfrm>
            <a:off x="3994913" y="5909505"/>
            <a:ext cx="2787978" cy="403954"/>
          </a:xfrm>
          <a:prstGeom prst="rect">
            <a:avLst/>
          </a:prstGeom>
          <a:noFill/>
          <a:ln cap="flat">
            <a:noFill/>
            <a:prstDash val="solid"/>
          </a:ln>
        </p:spPr>
        <p:txBody>
          <a:bodyPr vert="horz" wrap="square" lIns="91440" tIns="45720" rIns="91440" bIns="45720" anchor="t" anchorCtr="1" compatLnSpc="1">
            <a:spAutoFit/>
          </a:bodyPr>
          <a:lstStyle/>
          <a:p>
            <a:pPr marL="0" marR="0" lvl="0" indent="0" algn="ctr" defTabSz="914400" rtl="0" fontAlgn="auto" hangingPunct="0">
              <a:lnSpc>
                <a:spcPct val="90000"/>
              </a:lnSpc>
              <a:spcBef>
                <a:spcPts val="0"/>
              </a:spcBef>
              <a:spcAft>
                <a:spcPts val="0"/>
              </a:spcAft>
              <a:buNone/>
              <a:tabLst/>
              <a:defRPr sz="1800" b="0" i="0" u="none" strike="noStrike" kern="0" cap="none" spc="0" baseline="0">
                <a:solidFill>
                  <a:srgbClr val="000000"/>
                </a:solidFill>
                <a:uFillTx/>
              </a:defRPr>
            </a:pPr>
            <a:r>
              <a:rPr lang="en-GB" sz="1800" b="1" i="0" u="none" strike="noStrike" kern="0" cap="none" spc="0" baseline="30000">
                <a:solidFill>
                  <a:srgbClr val="004445"/>
                </a:solidFill>
                <a:uFillTx/>
                <a:latin typeface="Montserrat" pitchFamily="2"/>
                <a:ea typeface="Sweco Sans"/>
                <a:cs typeface="Sweco Sans"/>
              </a:rPr>
              <a:t>13-ft Organic flow battery</a:t>
            </a:r>
          </a:p>
          <a:p>
            <a:pPr marL="0" marR="0" lvl="0" indent="0" algn="ctr" defTabSz="914400" rtl="0" fontAlgn="auto" hangingPunct="0">
              <a:lnSpc>
                <a:spcPct val="90000"/>
              </a:lnSpc>
              <a:spcBef>
                <a:spcPts val="0"/>
              </a:spcBef>
              <a:spcAft>
                <a:spcPts val="0"/>
              </a:spcAft>
              <a:buNone/>
              <a:tabLst/>
              <a:defRPr sz="1800" b="0" i="0" u="none" strike="noStrike" kern="0" cap="none" spc="0" baseline="0">
                <a:solidFill>
                  <a:srgbClr val="000000"/>
                </a:solidFill>
                <a:uFillTx/>
              </a:defRPr>
            </a:pPr>
            <a:r>
              <a:rPr lang="en-GB" sz="1050" b="0" i="0" u="none" strike="noStrike" kern="0" cap="none" spc="0" baseline="0">
                <a:solidFill>
                  <a:srgbClr val="004445"/>
                </a:solidFill>
                <a:uFillTx/>
                <a:latin typeface="Roboto Light" pitchFamily="2"/>
                <a:ea typeface="Roboto Light" pitchFamily="2"/>
                <a:cs typeface="Roboto Light" pitchFamily="2"/>
              </a:rPr>
              <a:t>Fire-proof, sustainable &amp; low lifecycle cost</a:t>
            </a:r>
            <a:endParaRPr lang="en-GB" sz="1200" b="0" i="0" u="none" strike="noStrike" kern="0" cap="none" spc="0" baseline="0">
              <a:solidFill>
                <a:srgbClr val="004445"/>
              </a:solidFill>
              <a:uFillTx/>
              <a:latin typeface="Roboto Light" pitchFamily="2"/>
              <a:ea typeface="Roboto Light" pitchFamily="2"/>
              <a:cs typeface="Roboto Light" pitchFamily="2"/>
            </a:endParaRPr>
          </a:p>
        </p:txBody>
      </p:sp>
      <p:sp>
        <p:nvSpPr>
          <p:cNvPr id="9" name="Google Shape;141;p8">
            <a:extLst>
              <a:ext uri="{FF2B5EF4-FFF2-40B4-BE49-F238E27FC236}">
                <a16:creationId xmlns:a16="http://schemas.microsoft.com/office/drawing/2014/main" id="{8C794C3B-3886-37F8-6409-DA7EFD9283B6}"/>
              </a:ext>
            </a:extLst>
          </p:cNvPr>
          <p:cNvSpPr txBox="1"/>
          <p:nvPr/>
        </p:nvSpPr>
        <p:spPr>
          <a:xfrm>
            <a:off x="271981" y="3927388"/>
            <a:ext cx="2487524" cy="800181"/>
          </a:xfrm>
          <a:prstGeom prst="rect">
            <a:avLst/>
          </a:prstGeom>
          <a:noFill/>
          <a:ln cap="flat">
            <a:noFill/>
          </a:ln>
        </p:spPr>
        <p:txBody>
          <a:bodyPr vert="horz" wrap="square" lIns="91421" tIns="91421" rIns="91421" bIns="91421" anchor="t" anchorCtr="1" compatLnSpc="1">
            <a:spAutoFit/>
          </a:bodyPr>
          <a:lstStyle/>
          <a:p>
            <a:pPr lvl="0" algn="ctr" hangingPunct="0">
              <a:defRPr sz="1800" b="0" i="0" u="none" strike="noStrike" kern="0" cap="none" spc="0" baseline="0">
                <a:solidFill>
                  <a:srgbClr val="000000"/>
                </a:solidFill>
                <a:uFillTx/>
              </a:defRPr>
            </a:pPr>
            <a:r>
              <a:rPr lang="en-GB" sz="2000" b="1" i="0" u="none" strike="noStrike" kern="0" cap="none" spc="0" baseline="0" dirty="0">
                <a:solidFill>
                  <a:srgbClr val="004445"/>
                </a:solidFill>
                <a:uFillTx/>
                <a:latin typeface="Roboto"/>
                <a:ea typeface="Roboto"/>
                <a:cs typeface="Roboto"/>
              </a:rPr>
              <a:t>6.5 – 10.0 years</a:t>
            </a:r>
          </a:p>
        </p:txBody>
      </p:sp>
      <p:sp>
        <p:nvSpPr>
          <p:cNvPr id="10" name="Google Shape;142;p8">
            <a:extLst>
              <a:ext uri="{FF2B5EF4-FFF2-40B4-BE49-F238E27FC236}">
                <a16:creationId xmlns:a16="http://schemas.microsoft.com/office/drawing/2014/main" id="{FAE9D2D2-C8DA-BD85-2211-4757FF284E7E}"/>
              </a:ext>
            </a:extLst>
          </p:cNvPr>
          <p:cNvSpPr txBox="1"/>
          <p:nvPr/>
        </p:nvSpPr>
        <p:spPr>
          <a:xfrm>
            <a:off x="424283" y="4368247"/>
            <a:ext cx="2028148" cy="564221"/>
          </a:xfrm>
          <a:prstGeom prst="rect">
            <a:avLst/>
          </a:prstGeom>
          <a:noFill/>
          <a:ln cap="flat">
            <a:noFill/>
          </a:ln>
        </p:spPr>
        <p:txBody>
          <a:bodyPr vert="horz" wrap="square" lIns="91421" tIns="91421" rIns="91421" bIns="91421" anchor="t" anchorCtr="1" compatLnSpc="1">
            <a:spAutoFit/>
          </a:bodyPr>
          <a:lstStyle/>
          <a:p>
            <a:pPr marL="0" marR="0" lvl="0" indent="0" algn="ctr" defTabSz="914400" rtl="0" fontAlgn="auto" hangingPunct="0">
              <a:lnSpc>
                <a:spcPct val="100000"/>
              </a:lnSpc>
              <a:spcBef>
                <a:spcPts val="0"/>
              </a:spcBef>
              <a:spcAft>
                <a:spcPts val="200"/>
              </a:spcAft>
              <a:buNone/>
              <a:tabLst/>
              <a:defRPr sz="1800" b="0" i="0" u="none" strike="noStrike" kern="0" cap="none" spc="0" baseline="0">
                <a:solidFill>
                  <a:srgbClr val="000000"/>
                </a:solidFill>
                <a:uFillTx/>
              </a:defRPr>
            </a:pPr>
            <a:r>
              <a:rPr lang="en-GB" sz="900" b="1" i="0" u="none" strike="noStrike" kern="0" cap="none" spc="0" baseline="0" dirty="0">
                <a:solidFill>
                  <a:srgbClr val="004445"/>
                </a:solidFill>
                <a:uFillTx/>
                <a:latin typeface="Montserrat" pitchFamily="2"/>
                <a:ea typeface="Lexend Light"/>
                <a:cs typeface="Lexend Light"/>
              </a:rPr>
              <a:t>Payback time of the battery</a:t>
            </a:r>
            <a:r>
              <a:rPr lang="en-GB" sz="700" b="1" i="0" u="none" strike="noStrike" kern="0" cap="none" spc="0" baseline="0" dirty="0">
                <a:solidFill>
                  <a:srgbClr val="004445"/>
                </a:solidFill>
                <a:uFillTx/>
                <a:latin typeface="Montserrat" pitchFamily="2"/>
                <a:ea typeface="Lexend Light"/>
                <a:cs typeface="Lexend Light"/>
              </a:rPr>
              <a:t> </a:t>
            </a:r>
          </a:p>
          <a:p>
            <a:pPr marL="0" marR="0" lvl="0" indent="0" algn="ctr" defTabSz="914400" rtl="0" fontAlgn="auto" hangingPunct="0">
              <a:lnSpc>
                <a:spcPct val="100000"/>
              </a:lnSpc>
              <a:spcBef>
                <a:spcPts val="0"/>
              </a:spcBef>
              <a:spcAft>
                <a:spcPts val="200"/>
              </a:spcAft>
              <a:buNone/>
              <a:tabLst/>
              <a:defRPr sz="1800" b="0" i="0" u="none" strike="noStrike" kern="0" cap="none" spc="0" baseline="0">
                <a:solidFill>
                  <a:srgbClr val="000000"/>
                </a:solidFill>
                <a:uFillTx/>
              </a:defRPr>
            </a:pPr>
            <a:r>
              <a:rPr lang="en-GB" sz="700" b="0" i="0" u="none" strike="noStrike" kern="0" cap="none" spc="0" baseline="0" dirty="0">
                <a:solidFill>
                  <a:srgbClr val="020F1E"/>
                </a:solidFill>
                <a:uFillTx/>
                <a:latin typeface="Montserrat" pitchFamily="2"/>
                <a:ea typeface="Lexend Light"/>
                <a:cs typeface="Lexend Light"/>
              </a:rPr>
              <a:t>With Peak Shaving, Arbitrage, and Ancillary Market revenues</a:t>
            </a:r>
            <a:endParaRPr lang="en-GB" sz="800" b="0" i="0" u="none" strike="noStrike" kern="0" cap="none" spc="0" baseline="0" dirty="0">
              <a:solidFill>
                <a:srgbClr val="020F1E"/>
              </a:solidFill>
              <a:uFillTx/>
              <a:latin typeface="Montserrat" pitchFamily="2"/>
              <a:ea typeface="Lexend Light"/>
              <a:cs typeface="Lexend Light"/>
            </a:endParaRPr>
          </a:p>
        </p:txBody>
      </p:sp>
      <p:sp>
        <p:nvSpPr>
          <p:cNvPr id="11" name="Google Shape;148;p8">
            <a:extLst>
              <a:ext uri="{FF2B5EF4-FFF2-40B4-BE49-F238E27FC236}">
                <a16:creationId xmlns:a16="http://schemas.microsoft.com/office/drawing/2014/main" id="{E7578762-0955-A638-9FD0-E9EFE4034700}"/>
              </a:ext>
            </a:extLst>
          </p:cNvPr>
          <p:cNvSpPr txBox="1"/>
          <p:nvPr/>
        </p:nvSpPr>
        <p:spPr>
          <a:xfrm>
            <a:off x="425927" y="4943414"/>
            <a:ext cx="2615257" cy="400077"/>
          </a:xfrm>
          <a:prstGeom prst="rect">
            <a:avLst/>
          </a:prstGeom>
          <a:noFill/>
          <a:ln cap="flat">
            <a:noFill/>
          </a:ln>
        </p:spPr>
        <p:txBody>
          <a:bodyPr vert="horz" wrap="square" lIns="91421" tIns="91421" rIns="91421" bIns="91421" anchor="t"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0" cap="none" spc="0" baseline="0">
                <a:solidFill>
                  <a:srgbClr val="004445"/>
                </a:solidFill>
                <a:uFillTx/>
                <a:latin typeface="Roboto"/>
                <a:ea typeface="Roboto"/>
                <a:cs typeface="Roboto"/>
              </a:rPr>
              <a:t>Revenue Share by type</a:t>
            </a:r>
            <a:r>
              <a:rPr lang="en-GB" sz="1050" b="1" i="0" u="none" strike="noStrike" kern="0" cap="none" spc="0" baseline="0">
                <a:solidFill>
                  <a:srgbClr val="004445"/>
                </a:solidFill>
                <a:uFillTx/>
                <a:latin typeface="Roboto"/>
                <a:ea typeface="Roboto"/>
                <a:cs typeface="Roboto"/>
              </a:rPr>
              <a:t>*</a:t>
            </a:r>
            <a:endParaRPr lang="en-GB" sz="1400" b="1" i="0" u="none" strike="noStrike" kern="0" cap="none" spc="0" baseline="0">
              <a:solidFill>
                <a:srgbClr val="004445"/>
              </a:solidFill>
              <a:uFillTx/>
              <a:latin typeface="Roboto"/>
              <a:ea typeface="Roboto"/>
              <a:cs typeface="Roboto"/>
            </a:endParaRPr>
          </a:p>
        </p:txBody>
      </p:sp>
      <p:sp>
        <p:nvSpPr>
          <p:cNvPr id="14" name="ZoneTexte 24">
            <a:extLst>
              <a:ext uri="{FF2B5EF4-FFF2-40B4-BE49-F238E27FC236}">
                <a16:creationId xmlns:a16="http://schemas.microsoft.com/office/drawing/2014/main" id="{D2EC545B-EA61-7C16-27DE-AD4562D1EF5D}"/>
              </a:ext>
            </a:extLst>
          </p:cNvPr>
          <p:cNvSpPr txBox="1"/>
          <p:nvPr/>
        </p:nvSpPr>
        <p:spPr>
          <a:xfrm>
            <a:off x="759546" y="5719328"/>
            <a:ext cx="3120476" cy="261610"/>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1100" b="0" i="0" u="none" strike="noStrike" kern="0" cap="none" spc="0" baseline="0" dirty="0">
                <a:solidFill>
                  <a:srgbClr val="004445"/>
                </a:solidFill>
                <a:uFillTx/>
                <a:latin typeface="Montserrat"/>
                <a:ea typeface="Lexend Light"/>
                <a:cs typeface="Lexend Light"/>
              </a:rPr>
              <a:t>Arbitrage 		  29.0%</a:t>
            </a:r>
            <a:endParaRPr lang="en-GB" sz="1100" b="0" i="0" u="none" strike="noStrike" kern="0" cap="none" spc="0" baseline="0" dirty="0">
              <a:solidFill>
                <a:srgbClr val="004445"/>
              </a:solidFill>
              <a:uFillTx/>
              <a:latin typeface="Montserrat"/>
              <a:ea typeface="Sweco Sans"/>
              <a:cs typeface="Sweco Sans"/>
            </a:endParaRPr>
          </a:p>
        </p:txBody>
      </p:sp>
      <p:pic>
        <p:nvPicPr>
          <p:cNvPr id="16" name="Picture 3">
            <a:extLst>
              <a:ext uri="{FF2B5EF4-FFF2-40B4-BE49-F238E27FC236}">
                <a16:creationId xmlns:a16="http://schemas.microsoft.com/office/drawing/2014/main" id="{FD23DCCB-8F28-EFF3-02BC-6892CAEC98E9}"/>
              </a:ext>
            </a:extLst>
          </p:cNvPr>
          <p:cNvPicPr>
            <a:picLocks noChangeAspect="1"/>
          </p:cNvPicPr>
          <p:nvPr/>
        </p:nvPicPr>
        <p:blipFill>
          <a:blip r:embed="rId3"/>
          <a:srcRect/>
          <a:stretch>
            <a:fillRect/>
          </a:stretch>
        </p:blipFill>
        <p:spPr>
          <a:xfrm>
            <a:off x="4565270" y="4944329"/>
            <a:ext cx="1460625" cy="972665"/>
          </a:xfrm>
          <a:prstGeom prst="rect">
            <a:avLst/>
          </a:prstGeom>
          <a:noFill/>
          <a:ln cap="flat">
            <a:noFill/>
          </a:ln>
        </p:spPr>
      </p:pic>
      <p:pic>
        <p:nvPicPr>
          <p:cNvPr id="17" name="Picture 15">
            <a:extLst>
              <a:ext uri="{FF2B5EF4-FFF2-40B4-BE49-F238E27FC236}">
                <a16:creationId xmlns:a16="http://schemas.microsoft.com/office/drawing/2014/main" id="{CCE14C99-FF7A-87CB-75B2-C89B47641336}"/>
              </a:ext>
            </a:extLst>
          </p:cNvPr>
          <p:cNvPicPr>
            <a:picLocks noChangeAspect="1"/>
          </p:cNvPicPr>
          <p:nvPr/>
        </p:nvPicPr>
        <p:blipFill>
          <a:blip r:embed="rId4"/>
          <a:stretch>
            <a:fillRect/>
          </a:stretch>
        </p:blipFill>
        <p:spPr>
          <a:xfrm>
            <a:off x="5227451" y="460775"/>
            <a:ext cx="1070991" cy="340769"/>
          </a:xfrm>
          <a:prstGeom prst="rect">
            <a:avLst/>
          </a:prstGeom>
          <a:noFill/>
          <a:ln cap="flat">
            <a:noFill/>
          </a:ln>
        </p:spPr>
      </p:pic>
      <p:cxnSp>
        <p:nvCxnSpPr>
          <p:cNvPr id="18" name="Connecteur : en arc 12">
            <a:extLst>
              <a:ext uri="{FF2B5EF4-FFF2-40B4-BE49-F238E27FC236}">
                <a16:creationId xmlns:a16="http://schemas.microsoft.com/office/drawing/2014/main" id="{A0C7089C-AA73-1A41-FD5A-89FC61F87B64}"/>
              </a:ext>
            </a:extLst>
          </p:cNvPr>
          <p:cNvCxnSpPr>
            <a:stCxn id="9" idx="1"/>
            <a:endCxn id="11" idx="1"/>
          </p:cNvCxnSpPr>
          <p:nvPr/>
        </p:nvCxnSpPr>
        <p:spPr>
          <a:xfrm rot="10800000" flipH="1" flipV="1">
            <a:off x="271981" y="4327479"/>
            <a:ext cx="153946" cy="815974"/>
          </a:xfrm>
          <a:prstGeom prst="curvedConnector3">
            <a:avLst>
              <a:gd name="adj1" fmla="val -148494"/>
            </a:avLst>
          </a:prstGeom>
          <a:noFill/>
          <a:ln w="12701" cap="flat">
            <a:solidFill>
              <a:srgbClr val="004445"/>
            </a:solidFill>
            <a:prstDash val="solid"/>
            <a:miter/>
            <a:tailEnd type="arrow"/>
          </a:ln>
        </p:spPr>
      </p:cxnSp>
      <p:sp>
        <p:nvSpPr>
          <p:cNvPr id="19" name="Rectangle : coins arrondis 4">
            <a:extLst>
              <a:ext uri="{FF2B5EF4-FFF2-40B4-BE49-F238E27FC236}">
                <a16:creationId xmlns:a16="http://schemas.microsoft.com/office/drawing/2014/main" id="{1EB5801F-D671-8FD0-5F58-A82DAF387FD7}"/>
              </a:ext>
            </a:extLst>
          </p:cNvPr>
          <p:cNvSpPr/>
          <p:nvPr/>
        </p:nvSpPr>
        <p:spPr>
          <a:xfrm>
            <a:off x="527023" y="5414952"/>
            <a:ext cx="250957" cy="171879"/>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6BBF59"/>
          </a:solidFill>
          <a:ln w="12701" cap="flat">
            <a:solidFill>
              <a:srgbClr val="6BBF59"/>
            </a:solidFill>
            <a:prstDash val="solid"/>
            <a:miter/>
          </a:ln>
        </p:spPr>
        <p:txBody>
          <a:bodyPr vert="horz" wrap="square" lIns="45720" tIns="45720" rIns="45720" bIns="45720" anchor="ctr"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0" cap="none" spc="0" baseline="0">
              <a:solidFill>
                <a:srgbClr val="2C5D78"/>
              </a:solidFill>
              <a:uFillTx/>
              <a:latin typeface="Sweco Sans"/>
              <a:ea typeface="Sweco Sans"/>
              <a:cs typeface="Sweco Sans"/>
            </a:endParaRPr>
          </a:p>
        </p:txBody>
      </p:sp>
      <p:sp>
        <p:nvSpPr>
          <p:cNvPr id="20" name="Rectangle : coins arrondis 6">
            <a:extLst>
              <a:ext uri="{FF2B5EF4-FFF2-40B4-BE49-F238E27FC236}">
                <a16:creationId xmlns:a16="http://schemas.microsoft.com/office/drawing/2014/main" id="{B48A10F6-8331-4FBB-67F9-50FE19028AA6}"/>
              </a:ext>
            </a:extLst>
          </p:cNvPr>
          <p:cNvSpPr/>
          <p:nvPr/>
        </p:nvSpPr>
        <p:spPr>
          <a:xfrm>
            <a:off x="529117" y="5753536"/>
            <a:ext cx="250957" cy="171879"/>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4DB6AC"/>
          </a:solidFill>
          <a:ln w="12701" cap="flat">
            <a:solidFill>
              <a:srgbClr val="4DB6AC"/>
            </a:solidFill>
            <a:prstDash val="solid"/>
            <a:miter/>
          </a:ln>
        </p:spPr>
        <p:txBody>
          <a:bodyPr vert="horz" wrap="square" lIns="45720" tIns="45720" rIns="45720" bIns="45720" anchor="ctr"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0" cap="none" spc="0" baseline="0">
              <a:solidFill>
                <a:srgbClr val="2C5D78"/>
              </a:solidFill>
              <a:uFillTx/>
              <a:latin typeface="Sweco Sans"/>
              <a:ea typeface="Sweco Sans"/>
              <a:cs typeface="Sweco Sans"/>
            </a:endParaRPr>
          </a:p>
        </p:txBody>
      </p:sp>
      <p:sp>
        <p:nvSpPr>
          <p:cNvPr id="21" name="Rectangle : coins arrondis 7">
            <a:extLst>
              <a:ext uri="{FF2B5EF4-FFF2-40B4-BE49-F238E27FC236}">
                <a16:creationId xmlns:a16="http://schemas.microsoft.com/office/drawing/2014/main" id="{57ED6D65-F3F0-CFE5-F00A-20A579305FD7}"/>
              </a:ext>
            </a:extLst>
          </p:cNvPr>
          <p:cNvSpPr/>
          <p:nvPr/>
        </p:nvSpPr>
        <p:spPr>
          <a:xfrm>
            <a:off x="531211" y="6104538"/>
            <a:ext cx="250957" cy="171879"/>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3E8E41"/>
          </a:solidFill>
          <a:ln w="12701" cap="flat">
            <a:solidFill>
              <a:srgbClr val="3E8E41"/>
            </a:solidFill>
            <a:prstDash val="solid"/>
            <a:miter/>
          </a:ln>
        </p:spPr>
        <p:txBody>
          <a:bodyPr vert="horz" wrap="square" lIns="45720" tIns="45720" rIns="45720" bIns="45720" anchor="ctr"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0" cap="none" spc="0" baseline="0">
              <a:solidFill>
                <a:srgbClr val="2C5D78"/>
              </a:solidFill>
              <a:uFillTx/>
              <a:latin typeface="Sweco Sans"/>
              <a:ea typeface="Sweco Sans"/>
              <a:cs typeface="Sweco Sans"/>
            </a:endParaRPr>
          </a:p>
        </p:txBody>
      </p:sp>
      <p:sp>
        <p:nvSpPr>
          <p:cNvPr id="22" name="textruta 45">
            <a:extLst>
              <a:ext uri="{FF2B5EF4-FFF2-40B4-BE49-F238E27FC236}">
                <a16:creationId xmlns:a16="http://schemas.microsoft.com/office/drawing/2014/main" id="{335718B6-917E-BEEE-5AA2-1011E179ACC8}"/>
              </a:ext>
            </a:extLst>
          </p:cNvPr>
          <p:cNvSpPr txBox="1"/>
          <p:nvPr/>
        </p:nvSpPr>
        <p:spPr>
          <a:xfrm>
            <a:off x="424181" y="9349703"/>
            <a:ext cx="5874261" cy="230831"/>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0" cap="none" spc="0" baseline="0">
                <a:solidFill>
                  <a:srgbClr val="004445"/>
                </a:solidFill>
                <a:uFillTx/>
                <a:latin typeface="Open Sans Light" pitchFamily="34"/>
                <a:ea typeface="Open Sans Light" pitchFamily="34"/>
                <a:cs typeface="Open Sans Light" pitchFamily="34"/>
                <a:hlinkClick r:id="rId5">
                  <a:extLst>
                    <a:ext uri="{A12FA001-AC4F-418D-AE19-62706E023703}">
                      <ahyp:hlinkClr xmlns:ahyp="http://schemas.microsoft.com/office/drawing/2018/hyperlinkcolor" val="tx"/>
                    </a:ext>
                  </a:extLst>
                </a:hlinkClick>
              </a:rPr>
              <a:t>info@rivus-batteries.com</a:t>
            </a:r>
            <a:r>
              <a:rPr lang="en-GB" sz="900" b="0" i="0" u="none" strike="noStrike" kern="0" cap="none" spc="0" baseline="0">
                <a:solidFill>
                  <a:srgbClr val="004445"/>
                </a:solidFill>
                <a:uFillTx/>
                <a:latin typeface="Open Sans Light" pitchFamily="34"/>
                <a:ea typeface="Open Sans Light" pitchFamily="34"/>
                <a:cs typeface="Open Sans Light" pitchFamily="34"/>
              </a:rPr>
              <a:t>                                0046 763 01 29 16                                   </a:t>
            </a:r>
            <a:r>
              <a:rPr lang="en-GB" sz="900" b="0" i="0" u="none" strike="noStrike" kern="0" cap="none" spc="0" baseline="0">
                <a:solidFill>
                  <a:srgbClr val="004445"/>
                </a:solidFill>
                <a:uFillTx/>
                <a:latin typeface="Open Sans Light" pitchFamily="34"/>
                <a:ea typeface="Open Sans Light" pitchFamily="34"/>
                <a:cs typeface="Open Sans Light" pitchFamily="34"/>
                <a:hlinkClick r:id="rId6">
                  <a:extLst>
                    <a:ext uri="{A12FA001-AC4F-418D-AE19-62706E023703}">
                      <ahyp:hlinkClr xmlns:ahyp="http://schemas.microsoft.com/office/drawing/2018/hyperlinkcolor" val="tx"/>
                    </a:ext>
                  </a:extLst>
                </a:hlinkClick>
              </a:rPr>
              <a:t>www.rivus-batteries.com</a:t>
            </a:r>
            <a:endParaRPr lang="en-GB" sz="900" b="0" i="0" u="none" strike="noStrike" kern="0" cap="none" spc="0" baseline="0">
              <a:solidFill>
                <a:srgbClr val="004445"/>
              </a:solidFill>
              <a:uFillTx/>
              <a:latin typeface="Open Sans Light" pitchFamily="34"/>
              <a:ea typeface="Open Sans Light" pitchFamily="34"/>
              <a:cs typeface="Open Sans Light" pitchFamily="34"/>
            </a:endParaRPr>
          </a:p>
        </p:txBody>
      </p:sp>
      <p:sp>
        <p:nvSpPr>
          <p:cNvPr id="24" name="Google Shape;142;p8">
            <a:extLst>
              <a:ext uri="{FF2B5EF4-FFF2-40B4-BE49-F238E27FC236}">
                <a16:creationId xmlns:a16="http://schemas.microsoft.com/office/drawing/2014/main" id="{CBF5000A-FC22-9BA2-F762-A991B720BD44}"/>
              </a:ext>
            </a:extLst>
          </p:cNvPr>
          <p:cNvSpPr txBox="1"/>
          <p:nvPr/>
        </p:nvSpPr>
        <p:spPr>
          <a:xfrm>
            <a:off x="4365241" y="4376184"/>
            <a:ext cx="2167832" cy="589879"/>
          </a:xfrm>
          <a:prstGeom prst="rect">
            <a:avLst/>
          </a:prstGeom>
          <a:noFill/>
          <a:ln cap="flat">
            <a:noFill/>
          </a:ln>
        </p:spPr>
        <p:txBody>
          <a:bodyPr vert="horz" wrap="square" lIns="91421" tIns="91421" rIns="91421" bIns="91421" anchor="t" anchorCtr="1" compatLnSpc="1">
            <a:spAutoFit/>
          </a:bodyPr>
          <a:lstStyle/>
          <a:p>
            <a:pPr marL="0" marR="0" lvl="0" indent="0" algn="ctr" defTabSz="914400" rtl="0" fontAlgn="auto" hangingPunct="0">
              <a:lnSpc>
                <a:spcPct val="100000"/>
              </a:lnSpc>
              <a:spcBef>
                <a:spcPts val="0"/>
              </a:spcBef>
              <a:spcAft>
                <a:spcPts val="200"/>
              </a:spcAft>
              <a:buNone/>
              <a:tabLst/>
              <a:defRPr sz="1800" b="0" i="0" u="none" strike="noStrike" kern="0" cap="none" spc="0" baseline="0">
                <a:solidFill>
                  <a:srgbClr val="000000"/>
                </a:solidFill>
                <a:uFillTx/>
              </a:defRPr>
            </a:pPr>
            <a:r>
              <a:rPr lang="en-GB" sz="900" b="1" i="0" u="none" strike="noStrike" kern="0" cap="none" spc="0" baseline="0">
                <a:solidFill>
                  <a:srgbClr val="004445"/>
                </a:solidFill>
                <a:uFillTx/>
                <a:latin typeface="Montserrat"/>
                <a:ea typeface="Lexend Light"/>
                <a:cs typeface="Lexend Light"/>
              </a:rPr>
              <a:t>Increase in self-sufficiency</a:t>
            </a:r>
            <a:endParaRPr lang="en-GB" sz="700" b="1" i="0" u="none" strike="noStrike" kern="0" cap="none" spc="0" baseline="0">
              <a:solidFill>
                <a:srgbClr val="004445"/>
              </a:solidFill>
              <a:uFillTx/>
              <a:latin typeface="Montserrat"/>
              <a:ea typeface="Lexend Light"/>
              <a:cs typeface="Lexend Light"/>
            </a:endParaRPr>
          </a:p>
          <a:p>
            <a:pPr marL="0" marR="0" lvl="0" indent="0" algn="ctr" defTabSz="914400" rtl="0" fontAlgn="auto" hangingPunct="0">
              <a:lnSpc>
                <a:spcPct val="100000"/>
              </a:lnSpc>
              <a:spcBef>
                <a:spcPts val="0"/>
              </a:spcBef>
              <a:spcAft>
                <a:spcPts val="200"/>
              </a:spcAft>
              <a:buNone/>
              <a:tabLst/>
              <a:defRPr sz="1800" b="0" i="0" u="none" strike="noStrike" kern="0" cap="none" spc="0" baseline="0">
                <a:solidFill>
                  <a:srgbClr val="000000"/>
                </a:solidFill>
                <a:uFillTx/>
              </a:defRPr>
            </a:pPr>
            <a:r>
              <a:rPr lang="en-US" sz="700" b="0" i="0" u="none" strike="noStrike" kern="0" cap="none" spc="0" baseline="0">
                <a:solidFill>
                  <a:srgbClr val="020F1E"/>
                </a:solidFill>
                <a:uFillTx/>
                <a:latin typeface="Montserrat"/>
                <a:ea typeface="Lexend Light"/>
                <a:cs typeface="Lexend Light"/>
              </a:rPr>
              <a:t>% of on-site electricity demand met by PV with “self-sufficiency” objective </a:t>
            </a:r>
            <a:endParaRPr lang="en-GB" sz="800" b="0" i="0" u="none" strike="noStrike" kern="0" cap="none" spc="0" baseline="0">
              <a:solidFill>
                <a:srgbClr val="020F1E"/>
              </a:solidFill>
              <a:uFillTx/>
              <a:latin typeface="Montserrat"/>
              <a:ea typeface="Lexend Light"/>
              <a:cs typeface="Lexend Light"/>
            </a:endParaRPr>
          </a:p>
        </p:txBody>
      </p:sp>
      <p:sp>
        <p:nvSpPr>
          <p:cNvPr id="25" name="Google Shape;141;p8">
            <a:extLst>
              <a:ext uri="{FF2B5EF4-FFF2-40B4-BE49-F238E27FC236}">
                <a16:creationId xmlns:a16="http://schemas.microsoft.com/office/drawing/2014/main" id="{28DE911A-8E43-22FB-82F6-E8F24918FAE3}"/>
              </a:ext>
            </a:extLst>
          </p:cNvPr>
          <p:cNvSpPr txBox="1"/>
          <p:nvPr/>
        </p:nvSpPr>
        <p:spPr>
          <a:xfrm>
            <a:off x="4460878" y="3935316"/>
            <a:ext cx="1976548" cy="492404"/>
          </a:xfrm>
          <a:prstGeom prst="rect">
            <a:avLst/>
          </a:prstGeom>
          <a:noFill/>
          <a:ln cap="flat">
            <a:noFill/>
          </a:ln>
        </p:spPr>
        <p:txBody>
          <a:bodyPr vert="horz" wrap="square" lIns="91421" tIns="91421" rIns="91421" bIns="91421" anchor="t" anchorCtr="1" compatLnSpc="1">
            <a:spAutoFit/>
          </a:bodyPr>
          <a:lstStyle/>
          <a:p>
            <a:pPr marL="0" marR="0" lvl="0" indent="0" algn="ct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2000" b="1" kern="0" dirty="0">
                <a:solidFill>
                  <a:srgbClr val="004445"/>
                </a:solidFill>
                <a:latin typeface="Roboto"/>
                <a:ea typeface="Roboto"/>
                <a:cs typeface="Roboto"/>
              </a:rPr>
              <a:t>1.3x</a:t>
            </a:r>
            <a:endParaRPr lang="en-GB" sz="2000" b="1" i="0" u="none" strike="noStrike" kern="0" cap="none" spc="0" baseline="0" dirty="0">
              <a:solidFill>
                <a:srgbClr val="004445"/>
              </a:solidFill>
              <a:uFillTx/>
              <a:latin typeface="Roboto"/>
              <a:ea typeface="Roboto"/>
              <a:cs typeface="Roboto"/>
            </a:endParaRPr>
          </a:p>
        </p:txBody>
      </p:sp>
      <p:cxnSp>
        <p:nvCxnSpPr>
          <p:cNvPr id="26" name="Straight Connector 21">
            <a:extLst>
              <a:ext uri="{FF2B5EF4-FFF2-40B4-BE49-F238E27FC236}">
                <a16:creationId xmlns:a16="http://schemas.microsoft.com/office/drawing/2014/main" id="{E02E6A70-F341-CF99-75D3-6AE437E25D27}"/>
              </a:ext>
            </a:extLst>
          </p:cNvPr>
          <p:cNvCxnSpPr/>
          <p:nvPr/>
        </p:nvCxnSpPr>
        <p:spPr>
          <a:xfrm>
            <a:off x="2486373" y="3964848"/>
            <a:ext cx="0" cy="894119"/>
          </a:xfrm>
          <a:prstGeom prst="straightConnector1">
            <a:avLst/>
          </a:prstGeom>
          <a:noFill/>
          <a:ln w="12701" cap="flat">
            <a:solidFill>
              <a:srgbClr val="B7B7B7"/>
            </a:solidFill>
            <a:custDash>
              <a:ds d="300000" sp="300000"/>
            </a:custDash>
            <a:miter/>
          </a:ln>
        </p:spPr>
      </p:cxnSp>
      <p:sp>
        <p:nvSpPr>
          <p:cNvPr id="27" name="textruta 1">
            <a:extLst>
              <a:ext uri="{FF2B5EF4-FFF2-40B4-BE49-F238E27FC236}">
                <a16:creationId xmlns:a16="http://schemas.microsoft.com/office/drawing/2014/main" id="{BE090B45-7143-885C-CF57-E85C92B3A30D}"/>
              </a:ext>
            </a:extLst>
          </p:cNvPr>
          <p:cNvSpPr txBox="1"/>
          <p:nvPr/>
        </p:nvSpPr>
        <p:spPr>
          <a:xfrm>
            <a:off x="710360" y="2251042"/>
            <a:ext cx="5437278" cy="1421223"/>
          </a:xfrm>
          <a:prstGeom prst="rect">
            <a:avLst/>
          </a:prstGeom>
          <a:noFill/>
          <a:ln cap="flat">
            <a:noFill/>
          </a:ln>
        </p:spPr>
        <p:txBody>
          <a:bodyPr vert="horz" wrap="square" lIns="45720" tIns="45720" rIns="45720" bIns="45720" anchor="t" anchorCtr="1" compatLnSpc="1">
            <a:spAutoFit/>
          </a:bodyPr>
          <a:lstStyle/>
          <a:p>
            <a:pPr marL="0" marR="0" lvl="0" indent="0" algn="ctr" defTabSz="914400" rtl="0" fontAlgn="auto" hangingPunct="0">
              <a:lnSpc>
                <a:spcPct val="125000"/>
              </a:lnSpc>
              <a:spcBef>
                <a:spcPts val="0"/>
              </a:spcBef>
              <a:spcAft>
                <a:spcPts val="0"/>
              </a:spcAft>
              <a:buNone/>
              <a:tabLst/>
              <a:defRPr sz="1800" b="0" i="0" u="none" strike="noStrike" kern="0" cap="none" spc="0" baseline="0">
                <a:solidFill>
                  <a:srgbClr val="000000"/>
                </a:solidFill>
                <a:uFillTx/>
              </a:defRPr>
            </a:pPr>
            <a:r>
              <a:rPr lang="en-GB" sz="2400" b="1" i="0" u="none" strike="noStrike" kern="0" cap="none" spc="0" baseline="0" dirty="0">
                <a:solidFill>
                  <a:srgbClr val="004445"/>
                </a:solidFill>
                <a:uFillTx/>
                <a:latin typeface="Roboto" pitchFamily="2"/>
                <a:ea typeface="Roboto" pitchFamily="2"/>
                <a:cs typeface="Roboto" pitchFamily="2"/>
              </a:rPr>
              <a:t>Simulation Findings Sheet</a:t>
            </a:r>
            <a:endParaRPr lang="en-GB" sz="2400" b="1" kern="0" dirty="0">
              <a:solidFill>
                <a:srgbClr val="004445"/>
              </a:solidFill>
              <a:latin typeface="Roboto" pitchFamily="2"/>
              <a:ea typeface="Roboto" pitchFamily="2"/>
              <a:cs typeface="Roboto" pitchFamily="2"/>
            </a:endParaRPr>
          </a:p>
          <a:p>
            <a:pPr marL="0" marR="0" lvl="0" indent="0" algn="ctr" defTabSz="914400" rtl="0" fontAlgn="auto" hangingPunct="0">
              <a:lnSpc>
                <a:spcPct val="125000"/>
              </a:lnSpc>
              <a:spcBef>
                <a:spcPts val="0"/>
              </a:spcBef>
              <a:spcAft>
                <a:spcPts val="0"/>
              </a:spcAft>
              <a:buNone/>
              <a:tabLst/>
              <a:defRPr sz="1800" b="0" i="0" u="none" strike="noStrike" kern="0" cap="none" spc="0" baseline="0">
                <a:solidFill>
                  <a:srgbClr val="000000"/>
                </a:solidFill>
                <a:uFillTx/>
              </a:defRPr>
            </a:pPr>
            <a:r>
              <a:rPr lang="en-GB" sz="2400" b="1" i="0" u="none" strike="noStrike" kern="0" cap="none" spc="0" baseline="0" dirty="0">
                <a:solidFill>
                  <a:srgbClr val="004445"/>
                </a:solidFill>
                <a:uFillTx/>
                <a:latin typeface="Roboto" pitchFamily="2"/>
                <a:ea typeface="Roboto" pitchFamily="2"/>
                <a:cs typeface="Roboto" pitchFamily="2"/>
              </a:rPr>
              <a:t>Siriusgatan 54-58</a:t>
            </a:r>
          </a:p>
          <a:p>
            <a:pPr lvl="0" algn="ctr" hangingPunct="0">
              <a:lnSpc>
                <a:spcPct val="125000"/>
              </a:lnSpc>
              <a:defRPr sz="1800" b="0" i="0" u="none" strike="noStrike" kern="0" cap="none" spc="0" baseline="0">
                <a:solidFill>
                  <a:srgbClr val="000000"/>
                </a:solidFill>
                <a:uFillTx/>
              </a:defRPr>
            </a:pPr>
            <a:r>
              <a:rPr lang="en-US" sz="1100" b="0" i="0" u="none" strike="noStrike" kern="0" cap="none" spc="0" baseline="0" dirty="0">
                <a:solidFill>
                  <a:srgbClr val="004445"/>
                </a:solidFill>
                <a:uFillTx/>
                <a:latin typeface="Roboto Light" pitchFamily="2"/>
                <a:ea typeface="Roboto Light" pitchFamily="2"/>
                <a:cs typeface="Roboto Light" pitchFamily="2"/>
              </a:rPr>
              <a:t>We simulated how a 150 kWh, 25 kW battery + PV affects your electricity cost and grid fees based on your 2025 data. Key outcomes:</a:t>
            </a:r>
            <a:endParaRPr lang="en-GB" sz="2800" b="0" i="0" u="none" strike="noStrike" kern="0" cap="none" spc="0" baseline="0" dirty="0">
              <a:solidFill>
                <a:srgbClr val="004445"/>
              </a:solidFill>
              <a:uFillTx/>
              <a:latin typeface="Roboto Light" pitchFamily="2"/>
              <a:ea typeface="Roboto Light" pitchFamily="2"/>
              <a:cs typeface="Roboto Light" pitchFamily="2"/>
            </a:endParaRPr>
          </a:p>
        </p:txBody>
      </p:sp>
      <p:sp>
        <p:nvSpPr>
          <p:cNvPr id="2" name="ZoneTexte 24">
            <a:extLst>
              <a:ext uri="{FF2B5EF4-FFF2-40B4-BE49-F238E27FC236}">
                <a16:creationId xmlns:a16="http://schemas.microsoft.com/office/drawing/2014/main" id="{AD4B793E-C647-85FA-7B7F-D9469A258533}"/>
              </a:ext>
            </a:extLst>
          </p:cNvPr>
          <p:cNvSpPr txBox="1"/>
          <p:nvPr/>
        </p:nvSpPr>
        <p:spPr>
          <a:xfrm>
            <a:off x="752288" y="5368569"/>
            <a:ext cx="3756817" cy="261610"/>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1100" b="0" i="0" u="none" strike="noStrike" kern="0" cap="none" spc="0" baseline="0" dirty="0">
                <a:solidFill>
                  <a:srgbClr val="004445"/>
                </a:solidFill>
                <a:uFillTx/>
                <a:latin typeface="Montserrat"/>
                <a:ea typeface="Lexend Light"/>
                <a:cs typeface="Lexend Light"/>
              </a:rPr>
              <a:t>Peak Shaving 	  20.5%</a:t>
            </a:r>
            <a:endParaRPr lang="en-GB" sz="1100" b="0" i="0" u="none" strike="noStrike" kern="0" cap="none" spc="0" baseline="0" dirty="0">
              <a:solidFill>
                <a:srgbClr val="004445"/>
              </a:solidFill>
              <a:uFillTx/>
              <a:latin typeface="Montserrat"/>
              <a:ea typeface="Sweco Sans"/>
              <a:cs typeface="Sweco Sans"/>
            </a:endParaRPr>
          </a:p>
        </p:txBody>
      </p:sp>
      <p:sp>
        <p:nvSpPr>
          <p:cNvPr id="3" name="ZoneTexte 24">
            <a:extLst>
              <a:ext uri="{FF2B5EF4-FFF2-40B4-BE49-F238E27FC236}">
                <a16:creationId xmlns:a16="http://schemas.microsoft.com/office/drawing/2014/main" id="{E33C9D7D-D63A-4870-35D2-FCF1A5368EB4}"/>
              </a:ext>
            </a:extLst>
          </p:cNvPr>
          <p:cNvSpPr txBox="1"/>
          <p:nvPr/>
        </p:nvSpPr>
        <p:spPr>
          <a:xfrm>
            <a:off x="749870" y="6053163"/>
            <a:ext cx="2951274" cy="261610"/>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1100" b="0" i="0" u="none" strike="noStrike" kern="0" cap="none" spc="0" baseline="0" dirty="0">
                <a:solidFill>
                  <a:srgbClr val="004445"/>
                </a:solidFill>
                <a:uFillTx/>
                <a:latin typeface="Montserrat"/>
                <a:ea typeface="Lexend Light"/>
                <a:cs typeface="Lexend Light"/>
              </a:rPr>
              <a:t>Ancillary Market Revenue	  50.5%</a:t>
            </a:r>
            <a:endParaRPr lang="en-GB" sz="1100" b="0" i="0" u="none" strike="noStrike" kern="0" cap="none" spc="0" baseline="0" dirty="0">
              <a:solidFill>
                <a:srgbClr val="004445"/>
              </a:solidFill>
              <a:uFillTx/>
              <a:latin typeface="Montserrat"/>
              <a:ea typeface="Sweco Sans"/>
              <a:cs typeface="Sweco Sans"/>
            </a:endParaRPr>
          </a:p>
        </p:txBody>
      </p:sp>
      <p:sp>
        <p:nvSpPr>
          <p:cNvPr id="5" name="Google Shape;141;p8">
            <a:extLst>
              <a:ext uri="{FF2B5EF4-FFF2-40B4-BE49-F238E27FC236}">
                <a16:creationId xmlns:a16="http://schemas.microsoft.com/office/drawing/2014/main" id="{2E5AE8B1-5FC1-A4C9-2851-C5938DF0C67D}"/>
              </a:ext>
            </a:extLst>
          </p:cNvPr>
          <p:cNvSpPr txBox="1"/>
          <p:nvPr/>
        </p:nvSpPr>
        <p:spPr>
          <a:xfrm>
            <a:off x="2284093" y="3931821"/>
            <a:ext cx="2487524" cy="492404"/>
          </a:xfrm>
          <a:prstGeom prst="rect">
            <a:avLst/>
          </a:prstGeom>
          <a:noFill/>
          <a:ln cap="flat">
            <a:noFill/>
          </a:ln>
        </p:spPr>
        <p:txBody>
          <a:bodyPr vert="horz" wrap="square" lIns="91421" tIns="91421" rIns="91421" bIns="91421" anchor="t" anchorCtr="1" compatLnSpc="1">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hangingPunct="0">
              <a:defRPr sz="1800" b="0" i="0" u="none" strike="noStrike" kern="0" cap="none" spc="0" baseline="0">
                <a:solidFill>
                  <a:srgbClr val="000000"/>
                </a:solidFill>
                <a:uFillTx/>
              </a:defRPr>
            </a:pPr>
            <a:r>
              <a:rPr lang="en-GB" sz="2000" b="1" kern="0" dirty="0">
                <a:solidFill>
                  <a:srgbClr val="004445"/>
                </a:solidFill>
                <a:latin typeface="Roboto"/>
                <a:ea typeface="Roboto"/>
                <a:cs typeface="Roboto"/>
              </a:rPr>
              <a:t>16.6% – 100%</a:t>
            </a:r>
          </a:p>
        </p:txBody>
      </p:sp>
      <p:sp>
        <p:nvSpPr>
          <p:cNvPr id="12" name="Google Shape;142;p8">
            <a:extLst>
              <a:ext uri="{FF2B5EF4-FFF2-40B4-BE49-F238E27FC236}">
                <a16:creationId xmlns:a16="http://schemas.microsoft.com/office/drawing/2014/main" id="{80384A67-6A68-CDD1-EC20-C042443753C3}"/>
              </a:ext>
            </a:extLst>
          </p:cNvPr>
          <p:cNvSpPr txBox="1"/>
          <p:nvPr/>
        </p:nvSpPr>
        <p:spPr>
          <a:xfrm>
            <a:off x="2436509" y="4372680"/>
            <a:ext cx="2028148" cy="697589"/>
          </a:xfrm>
          <a:prstGeom prst="rect">
            <a:avLst/>
          </a:prstGeom>
          <a:noFill/>
          <a:ln cap="flat">
            <a:noFill/>
          </a:ln>
        </p:spPr>
        <p:txBody>
          <a:bodyPr vert="horz" wrap="square" lIns="91421" tIns="91421" rIns="91421" bIns="91421" anchor="t" anchorCtr="1" compatLnSpc="1">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200"/>
              </a:spcAft>
              <a:defRPr sz="1800" b="0" i="0" u="none" strike="noStrike" kern="0" cap="none" spc="0" baseline="0">
                <a:solidFill>
                  <a:srgbClr val="000000"/>
                </a:solidFill>
                <a:uFillTx/>
              </a:defRPr>
            </a:pPr>
            <a:r>
              <a:rPr lang="en-GB" sz="900" b="1" kern="0" dirty="0">
                <a:solidFill>
                  <a:srgbClr val="004445"/>
                </a:solidFill>
                <a:latin typeface="Montserrat"/>
              </a:rPr>
              <a:t>Electricity cost reduction</a:t>
            </a:r>
          </a:p>
          <a:p>
            <a:pPr algn="ctr">
              <a:spcAft>
                <a:spcPts val="200"/>
              </a:spcAft>
              <a:defRPr sz="1800" b="0" i="0" u="none" strike="noStrike" kern="0" cap="none" spc="0" baseline="0">
                <a:solidFill>
                  <a:srgbClr val="000000"/>
                </a:solidFill>
                <a:uFillTx/>
              </a:defRPr>
            </a:pPr>
            <a:r>
              <a:rPr lang="en-GB" sz="700" dirty="0">
                <a:solidFill>
                  <a:srgbClr val="020F1E"/>
                </a:solidFill>
                <a:latin typeface="Montserrat"/>
              </a:rPr>
              <a:t>Compared to 2024-2025</a:t>
            </a:r>
          </a:p>
          <a:p>
            <a:pPr algn="ctr">
              <a:spcAft>
                <a:spcPts val="200"/>
              </a:spcAft>
              <a:defRPr sz="1800" b="0" i="0" u="none" strike="noStrike" kern="0" cap="none" spc="0" baseline="0">
                <a:solidFill>
                  <a:srgbClr val="000000"/>
                </a:solidFill>
                <a:uFillTx/>
              </a:defRPr>
            </a:pPr>
            <a:r>
              <a:rPr lang="en-GB" sz="700" dirty="0">
                <a:solidFill>
                  <a:srgbClr val="020F1E"/>
                </a:solidFill>
                <a:latin typeface="Montserrat"/>
              </a:rPr>
              <a:t>Without PV &amp; Battery: €0.034-€0.054</a:t>
            </a:r>
          </a:p>
        </p:txBody>
      </p:sp>
      <p:sp>
        <p:nvSpPr>
          <p:cNvPr id="13" name="Rectangle 1">
            <a:extLst>
              <a:ext uri="{FF2B5EF4-FFF2-40B4-BE49-F238E27FC236}">
                <a16:creationId xmlns:a16="http://schemas.microsoft.com/office/drawing/2014/main" id="{46FF6463-1CEA-6B3D-044C-161F748D3EE1}"/>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100" b="0" i="0" u="none" strike="noStrike" cap="none" normalizeH="0" baseline="0">
                <a:ln>
                  <a:noFill/>
                </a:ln>
                <a:solidFill>
                  <a:srgbClr val="404040"/>
                </a:solidFill>
                <a:effectLst/>
                <a:latin typeface="Arial" panose="020B0604020202020204" pitchFamily="34" charset="0"/>
              </a:rPr>
              <a:t>Familjebostäder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5" name="Rectangle 2">
            <a:extLst>
              <a:ext uri="{FF2B5EF4-FFF2-40B4-BE49-F238E27FC236}">
                <a16:creationId xmlns:a16="http://schemas.microsoft.com/office/drawing/2014/main" id="{D031A40C-F677-2D37-FB51-9FE65C32AC59}"/>
              </a:ext>
            </a:extLst>
          </p:cNvPr>
          <p:cNvSpPr>
            <a:spLocks noChangeArrowheads="1"/>
          </p:cNvSpPr>
          <p:nvPr/>
        </p:nvSpPr>
        <p:spPr bwMode="auto">
          <a:xfrm>
            <a:off x="152400" y="15240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100" b="0" i="0" u="none" strike="noStrike" cap="none" normalizeH="0" baseline="0">
                <a:ln>
                  <a:noFill/>
                </a:ln>
                <a:solidFill>
                  <a:srgbClr val="404040"/>
                </a:solidFill>
                <a:effectLst/>
                <a:latin typeface="Arial" panose="020B0604020202020204" pitchFamily="34" charset="0"/>
              </a:rPr>
              <a:t>Familjebostäder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14172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00644BF7-1AC4-61D4-0FFE-4B97E7103233}"/>
              </a:ext>
            </a:extLst>
          </p:cNvPr>
          <p:cNvPicPr>
            <a:picLocks noChangeAspect="1"/>
          </p:cNvPicPr>
          <p:nvPr/>
        </p:nvPicPr>
        <p:blipFill>
          <a:blip r:embed="rId2"/>
          <a:srcRect t="26178" b="17402"/>
          <a:stretch>
            <a:fillRect/>
          </a:stretch>
        </p:blipFill>
        <p:spPr>
          <a:xfrm>
            <a:off x="0" y="-73152"/>
            <a:ext cx="6858000" cy="2209803"/>
          </a:xfrm>
          <a:prstGeom prst="rect">
            <a:avLst/>
          </a:prstGeom>
          <a:noFill/>
          <a:ln cap="flat">
            <a:noFill/>
          </a:ln>
        </p:spPr>
      </p:pic>
      <p:graphicFrame>
        <p:nvGraphicFramePr>
          <p:cNvPr id="5" name="Tableau 13">
            <a:extLst>
              <a:ext uri="{FF2B5EF4-FFF2-40B4-BE49-F238E27FC236}">
                <a16:creationId xmlns:a16="http://schemas.microsoft.com/office/drawing/2014/main" id="{32C9E82B-BB40-E979-FFBC-65DCB1436F01}"/>
              </a:ext>
            </a:extLst>
          </p:cNvPr>
          <p:cNvGraphicFramePr>
            <a:graphicFrameLocks noGrp="1"/>
          </p:cNvGraphicFramePr>
          <p:nvPr>
            <p:extLst>
              <p:ext uri="{D42A27DB-BD31-4B8C-83A1-F6EECF244321}">
                <p14:modId xmlns:p14="http://schemas.microsoft.com/office/powerpoint/2010/main" val="3543825500"/>
              </p:ext>
            </p:extLst>
          </p:nvPr>
        </p:nvGraphicFramePr>
        <p:xfrm>
          <a:off x="319083" y="2184598"/>
          <a:ext cx="6139534" cy="6521439"/>
        </p:xfrm>
        <a:graphic>
          <a:graphicData uri="http://schemas.openxmlformats.org/drawingml/2006/table">
            <a:tbl>
              <a:tblPr firstRow="1" firstCol="1" bandRow="1">
                <a:effectLst/>
              </a:tblPr>
              <a:tblGrid>
                <a:gridCol w="1162623">
                  <a:extLst>
                    <a:ext uri="{9D8B030D-6E8A-4147-A177-3AD203B41FA5}">
                      <a16:colId xmlns:a16="http://schemas.microsoft.com/office/drawing/2014/main" val="3902578259"/>
                    </a:ext>
                  </a:extLst>
                </a:gridCol>
                <a:gridCol w="814318">
                  <a:extLst>
                    <a:ext uri="{9D8B030D-6E8A-4147-A177-3AD203B41FA5}">
                      <a16:colId xmlns:a16="http://schemas.microsoft.com/office/drawing/2014/main" val="3341792674"/>
                    </a:ext>
                  </a:extLst>
                </a:gridCol>
                <a:gridCol w="830238">
                  <a:extLst>
                    <a:ext uri="{9D8B030D-6E8A-4147-A177-3AD203B41FA5}">
                      <a16:colId xmlns:a16="http://schemas.microsoft.com/office/drawing/2014/main" val="1643584864"/>
                    </a:ext>
                  </a:extLst>
                </a:gridCol>
                <a:gridCol w="873453">
                  <a:extLst>
                    <a:ext uri="{9D8B030D-6E8A-4147-A177-3AD203B41FA5}">
                      <a16:colId xmlns:a16="http://schemas.microsoft.com/office/drawing/2014/main" val="3832778860"/>
                    </a:ext>
                  </a:extLst>
                </a:gridCol>
                <a:gridCol w="706456">
                  <a:extLst>
                    <a:ext uri="{9D8B030D-6E8A-4147-A177-3AD203B41FA5}">
                      <a16:colId xmlns:a16="http://schemas.microsoft.com/office/drawing/2014/main" val="2497944465"/>
                    </a:ext>
                  </a:extLst>
                </a:gridCol>
                <a:gridCol w="876223">
                  <a:extLst>
                    <a:ext uri="{9D8B030D-6E8A-4147-A177-3AD203B41FA5}">
                      <a16:colId xmlns:a16="http://schemas.microsoft.com/office/drawing/2014/main" val="2561298221"/>
                    </a:ext>
                  </a:extLst>
                </a:gridCol>
                <a:gridCol w="876223">
                  <a:extLst>
                    <a:ext uri="{9D8B030D-6E8A-4147-A177-3AD203B41FA5}">
                      <a16:colId xmlns:a16="http://schemas.microsoft.com/office/drawing/2014/main" val="2265303153"/>
                    </a:ext>
                  </a:extLst>
                </a:gridCol>
              </a:tblGrid>
              <a:tr h="734382">
                <a:tc gridSpan="7">
                  <a:txBody>
                    <a:bodyPr/>
                    <a:lstStyle/>
                    <a:p>
                      <a:pPr lvl="0" algn="l">
                        <a:lnSpc>
                          <a:spcPct val="115000"/>
                        </a:lnSpc>
                        <a:buNone/>
                      </a:pPr>
                      <a:r>
                        <a:rPr lang="en-US" sz="1600" b="1" dirty="0">
                          <a:solidFill>
                            <a:srgbClr val="004445"/>
                          </a:solidFill>
                          <a:latin typeface="Roboto"/>
                          <a:ea typeface="Roboto"/>
                          <a:cs typeface="Roboto"/>
                        </a:rPr>
                        <a:t>Findings – Siriusgatan</a:t>
                      </a:r>
                    </a:p>
                    <a:p>
                      <a:pPr lvl="0" algn="l">
                        <a:lnSpc>
                          <a:spcPct val="115000"/>
                        </a:lnSpc>
                        <a:buNone/>
                      </a:pPr>
                      <a:r>
                        <a:rPr lang="en-US" sz="1100" b="0" dirty="0">
                          <a:solidFill>
                            <a:srgbClr val="004445"/>
                          </a:solidFill>
                          <a:latin typeface="Montserrat"/>
                          <a:ea typeface="MS Mincho"/>
                          <a:cs typeface="Times New Roman"/>
                        </a:rPr>
                        <a:t>Average annual demand: 73.0 MWh </a:t>
                      </a:r>
                      <a:endParaRPr lang="en-US" sz="1000" b="0" dirty="0">
                        <a:solidFill>
                          <a:srgbClr val="082A75"/>
                        </a:solidFill>
                        <a:latin typeface="Montserrat"/>
                        <a:ea typeface="MS Mincho"/>
                        <a:cs typeface="Times New Roman"/>
                      </a:endParaRPr>
                    </a:p>
                    <a:p>
                      <a:pPr lvl="0" algn="l">
                        <a:lnSpc>
                          <a:spcPct val="100000"/>
                        </a:lnSpc>
                        <a:spcBef>
                          <a:spcPts val="0"/>
                        </a:spcBef>
                        <a:spcAft>
                          <a:spcPts val="0"/>
                        </a:spcAft>
                        <a:buNone/>
                      </a:pPr>
                      <a:r>
                        <a:rPr lang="en-US" sz="1100" b="0" i="0" u="none" strike="noStrike" dirty="0">
                          <a:solidFill>
                            <a:srgbClr val="004445"/>
                          </a:solidFill>
                          <a:latin typeface="Montserrat"/>
                        </a:rPr>
                        <a:t>Total PV generation in period: 74.0 MWh</a:t>
                      </a:r>
                      <a:endParaRPr lang="en-US" sz="1100" b="0" i="0" u="none" strike="noStrike" dirty="0">
                        <a:solidFill>
                          <a:srgbClr val="020F1E"/>
                        </a:solidFill>
                        <a:latin typeface="Montserrat"/>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656466941"/>
                  </a:ext>
                </a:extLst>
              </a:tr>
              <a:tr h="322499">
                <a:tc>
                  <a:txBody>
                    <a:bodyPr/>
                    <a:lstStyle/>
                    <a:p>
                      <a:pPr lvl="0" algn="l">
                        <a:lnSpc>
                          <a:spcPct val="115000"/>
                        </a:lnSpc>
                        <a:buNone/>
                      </a:pPr>
                      <a:endParaRPr lang="en-US" sz="800" b="1">
                        <a:solidFill>
                          <a:srgbClr val="082A75"/>
                        </a:solidFill>
                        <a:latin typeface="Montserrat"/>
                        <a:ea typeface="MS Mincho" pitchFamily="49"/>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C1D9CB"/>
                    </a:solidFill>
                  </a:tcPr>
                </a:tc>
                <a:tc gridSpan="3">
                  <a:txBody>
                    <a:bodyPr/>
                    <a:lstStyle/>
                    <a:p>
                      <a:pPr lvl="0" algn="ctr">
                        <a:lnSpc>
                          <a:spcPct val="115000"/>
                        </a:lnSpc>
                        <a:buNone/>
                      </a:pPr>
                      <a:r>
                        <a:rPr lang="en-US" sz="1400" b="1">
                          <a:solidFill>
                            <a:srgbClr val="004445"/>
                          </a:solidFill>
                          <a:latin typeface="Montserrat"/>
                          <a:ea typeface="MS Mincho"/>
                          <a:cs typeface="Times New Roman"/>
                        </a:rPr>
                        <a:t>2024</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C1D9CB"/>
                    </a:solidFill>
                  </a:tcPr>
                </a:tc>
                <a:tc hMerge="1">
                  <a:txBody>
                    <a:bodyPr/>
                    <a:lstStyle/>
                    <a:p>
                      <a:endParaRPr lang="fr-FR"/>
                    </a:p>
                  </a:txBody>
                  <a:tcPr/>
                </a:tc>
                <a:tc hMerge="1">
                  <a:txBody>
                    <a:bodyPr/>
                    <a:lstStyle/>
                    <a:p>
                      <a:endParaRPr lang="fr-FR"/>
                    </a:p>
                  </a:txBody>
                  <a:tcPr/>
                </a:tc>
                <a:tc gridSpan="3">
                  <a:txBody>
                    <a:bodyPr/>
                    <a:lstStyle/>
                    <a:p>
                      <a:pPr lvl="0" algn="ctr">
                        <a:lnSpc>
                          <a:spcPct val="115000"/>
                        </a:lnSpc>
                        <a:buNone/>
                      </a:pPr>
                      <a:r>
                        <a:rPr lang="en-US" sz="1400" b="1" dirty="0">
                          <a:solidFill>
                            <a:srgbClr val="004445"/>
                          </a:solidFill>
                          <a:latin typeface="Montserrat"/>
                          <a:ea typeface="MS Mincho"/>
                          <a:cs typeface="Times New Roman"/>
                        </a:rPr>
                        <a:t>2025</a:t>
                      </a:r>
                      <a:endParaRPr lang="en-US" sz="1400" b="0" dirty="0">
                        <a:solidFill>
                          <a:srgbClr val="004445"/>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9AC5CE"/>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265516369"/>
                  </a:ext>
                </a:extLst>
              </a:tr>
              <a:tr h="407484">
                <a:tc rowSpan="2">
                  <a:txBody>
                    <a:bodyPr/>
                    <a:lstStyle/>
                    <a:p>
                      <a:pPr lvl="0" algn="l">
                        <a:lnSpc>
                          <a:spcPct val="115000"/>
                        </a:lnSpc>
                        <a:buNone/>
                      </a:pPr>
                      <a:r>
                        <a:rPr lang="en-US" sz="800" b="1">
                          <a:solidFill>
                            <a:srgbClr val="004445"/>
                          </a:solidFill>
                          <a:latin typeface="Montserrat"/>
                          <a:ea typeface="MS Mincho"/>
                          <a:cs typeface="Times New Roman"/>
                        </a:rPr>
                        <a:t>Simulation /</a:t>
                      </a:r>
                    </a:p>
                    <a:p>
                      <a:pPr lvl="0" algn="l">
                        <a:lnSpc>
                          <a:spcPct val="115000"/>
                        </a:lnSpc>
                        <a:buNone/>
                      </a:pPr>
                      <a:r>
                        <a:rPr lang="en-US" sz="800" b="1">
                          <a:solidFill>
                            <a:srgbClr val="004445"/>
                          </a:solidFill>
                          <a:latin typeface="Montserrat"/>
                          <a:cs typeface="Times New Roman"/>
                        </a:rPr>
                        <a:t>​​Use-case</a:t>
                      </a:r>
                      <a:endParaRPr lang="en-US" sz="800" b="1">
                        <a:solidFill>
                          <a:srgbClr val="082A75"/>
                        </a:solidFill>
                        <a:latin typeface="Montserrat"/>
                        <a:ea typeface="MS Mincho" pitchFamily="49"/>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C1D9CB"/>
                    </a:solidFill>
                  </a:tcPr>
                </a:tc>
                <a:tc>
                  <a:txBody>
                    <a:bodyPr/>
                    <a:lstStyle/>
                    <a:p>
                      <a:pPr marL="0" marR="0" lvl="0" indent="0" algn="ctr" defTabSz="914400" rtl="0" fontAlgn="auto" hangingPunct="1">
                        <a:lnSpc>
                          <a:spcPct val="115000"/>
                        </a:lnSpc>
                        <a:spcBef>
                          <a:spcPts val="0"/>
                        </a:spcBef>
                        <a:spcAft>
                          <a:spcPts val="0"/>
                        </a:spcAft>
                        <a:buNone/>
                        <a:tabLst/>
                      </a:pPr>
                      <a:r>
                        <a:rPr lang="en-US" sz="900" b="1">
                          <a:solidFill>
                            <a:srgbClr val="004445"/>
                          </a:solidFill>
                          <a:latin typeface="Montserrat"/>
                          <a:ea typeface="Times New Roman" pitchFamily="18"/>
                          <a:cs typeface="Times New Roman"/>
                        </a:rPr>
                        <a:t>Baseline</a:t>
                      </a:r>
                    </a:p>
                    <a:p>
                      <a:pPr marL="0" marR="0" lvl="0" indent="0" algn="ctr" defTabSz="914400" rtl="0" fontAlgn="auto" hangingPunct="1">
                        <a:lnSpc>
                          <a:spcPct val="115000"/>
                        </a:lnSpc>
                        <a:spcBef>
                          <a:spcPts val="0"/>
                        </a:spcBef>
                        <a:spcAft>
                          <a:spcPts val="0"/>
                        </a:spcAft>
                        <a:buNone/>
                        <a:tabLst/>
                      </a:pPr>
                      <a:endParaRPr lang="en-US" sz="700" b="1">
                        <a:solidFill>
                          <a:srgbClr val="004445"/>
                        </a:solidFill>
                        <a:latin typeface="Montserrat"/>
                        <a:ea typeface="Times New Roman" pitchFamily="18"/>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C1D9CB"/>
                    </a:solidFill>
                  </a:tcPr>
                </a:tc>
                <a:tc>
                  <a:txBody>
                    <a:bodyPr/>
                    <a:lstStyle/>
                    <a:p>
                      <a:pPr marL="0" marR="0" lvl="0" indent="0" algn="ctr" defTabSz="914400" rtl="0" fontAlgn="auto" hangingPunct="1">
                        <a:lnSpc>
                          <a:spcPct val="115000"/>
                        </a:lnSpc>
                        <a:spcBef>
                          <a:spcPts val="0"/>
                        </a:spcBef>
                        <a:spcAft>
                          <a:spcPts val="0"/>
                        </a:spcAft>
                        <a:buNone/>
                        <a:tabLst/>
                      </a:pPr>
                      <a:r>
                        <a:rPr lang="en-US" sz="900" b="1" i="0" u="none" strike="noStrike" kern="0" cap="none" spc="0" baseline="0" dirty="0">
                          <a:solidFill>
                            <a:srgbClr val="004445"/>
                          </a:solidFill>
                          <a:uFillTx/>
                          <a:latin typeface="Montserrat"/>
                          <a:ea typeface="Times New Roman" pitchFamily="18"/>
                          <a:cs typeface="Times New Roman"/>
                        </a:rPr>
                        <a:t>Battery I</a:t>
                      </a:r>
                    </a:p>
                    <a:p>
                      <a:pPr marL="0" marR="0" lvl="0" indent="0" algn="ctr" defTabSz="914400" rtl="0" fontAlgn="auto" hangingPunct="1">
                        <a:lnSpc>
                          <a:spcPct val="115000"/>
                        </a:lnSpc>
                        <a:spcBef>
                          <a:spcPts val="0"/>
                        </a:spcBef>
                        <a:spcAft>
                          <a:spcPts val="0"/>
                        </a:spcAft>
                        <a:buNone/>
                        <a:tabLst/>
                      </a:pPr>
                      <a:r>
                        <a:rPr lang="en-US" sz="700" b="0" i="0" u="none" strike="noStrike" kern="0" cap="none" spc="0" baseline="0" dirty="0">
                          <a:solidFill>
                            <a:srgbClr val="004445"/>
                          </a:solidFill>
                          <a:uFillTx/>
                          <a:latin typeface="Montserrat"/>
                          <a:ea typeface="MS Mincho"/>
                          <a:cs typeface="Times New Roman"/>
                        </a:rPr>
                        <a:t>(150 kWh, 25 kW)</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C1D9CB"/>
                    </a:solidFill>
                  </a:tcPr>
                </a:tc>
                <a:tc>
                  <a:txBody>
                    <a:bodyPr/>
                    <a:lstStyle/>
                    <a:p>
                      <a:pPr marL="0" marR="0" lvl="0" indent="0" algn="ctr" defTabSz="914400" rtl="0" fontAlgn="auto" hangingPunct="1">
                        <a:lnSpc>
                          <a:spcPct val="115000"/>
                        </a:lnSpc>
                        <a:spcBef>
                          <a:spcPts val="0"/>
                        </a:spcBef>
                        <a:spcAft>
                          <a:spcPts val="0"/>
                        </a:spcAft>
                        <a:buNone/>
                        <a:tabLst/>
                      </a:pPr>
                      <a:r>
                        <a:rPr lang="en-US" sz="900" b="1" i="0" u="none" strike="noStrike" kern="0" cap="none" spc="0" baseline="0" dirty="0">
                          <a:solidFill>
                            <a:srgbClr val="004445"/>
                          </a:solidFill>
                          <a:uFillTx/>
                          <a:latin typeface="Montserrat"/>
                          <a:ea typeface="Times New Roman" pitchFamily="18"/>
                          <a:cs typeface="Times New Roman"/>
                        </a:rPr>
                        <a:t>Battery II</a:t>
                      </a:r>
                    </a:p>
                    <a:p>
                      <a:pPr marL="0" marR="0" lvl="0" indent="0" algn="ctr" defTabSz="914400" rtl="0" fontAlgn="auto" hangingPunct="1">
                        <a:lnSpc>
                          <a:spcPct val="115000"/>
                        </a:lnSpc>
                        <a:spcBef>
                          <a:spcPts val="0"/>
                        </a:spcBef>
                        <a:spcAft>
                          <a:spcPts val="0"/>
                        </a:spcAft>
                        <a:buNone/>
                        <a:tabLst/>
                      </a:pPr>
                      <a:r>
                        <a:rPr lang="en-US" sz="700" b="0" i="0" u="none" strike="noStrike" kern="0" cap="none" spc="0" baseline="0" dirty="0">
                          <a:solidFill>
                            <a:srgbClr val="004445"/>
                          </a:solidFill>
                          <a:uFillTx/>
                          <a:latin typeface="Montserrat"/>
                          <a:ea typeface="MS Mincho"/>
                          <a:cs typeface="Times New Roman"/>
                        </a:rPr>
                        <a:t>(150 kWh, 25 kW)</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C1D9CB"/>
                    </a:solidFill>
                  </a:tcPr>
                </a:tc>
                <a:tc>
                  <a:txBody>
                    <a:bodyPr/>
                    <a:lstStyle/>
                    <a:p>
                      <a:pPr marL="0" marR="0" lvl="0" indent="0" algn="ctr" defTabSz="914400" rtl="0" fontAlgn="auto" hangingPunct="1">
                        <a:lnSpc>
                          <a:spcPct val="115000"/>
                        </a:lnSpc>
                        <a:spcBef>
                          <a:spcPts val="0"/>
                        </a:spcBef>
                        <a:spcAft>
                          <a:spcPts val="0"/>
                        </a:spcAft>
                        <a:buNone/>
                        <a:tabLst/>
                      </a:pPr>
                      <a:r>
                        <a:rPr lang="en-US" sz="900" b="1">
                          <a:solidFill>
                            <a:srgbClr val="004445"/>
                          </a:solidFill>
                          <a:latin typeface="Montserrat"/>
                          <a:ea typeface="Times New Roman" pitchFamily="18"/>
                          <a:cs typeface="Times New Roman"/>
                        </a:rPr>
                        <a:t>Baseline</a:t>
                      </a:r>
                    </a:p>
                    <a:p>
                      <a:pPr marL="0" marR="0" lvl="0" indent="0" algn="ctr" defTabSz="914400" rtl="0" fontAlgn="auto" hangingPunct="1">
                        <a:lnSpc>
                          <a:spcPct val="115000"/>
                        </a:lnSpc>
                        <a:spcBef>
                          <a:spcPts val="0"/>
                        </a:spcBef>
                        <a:spcAft>
                          <a:spcPts val="0"/>
                        </a:spcAft>
                        <a:buNone/>
                        <a:tabLst/>
                      </a:pPr>
                      <a:endParaRPr lang="en-US" sz="800" b="1">
                        <a:solidFill>
                          <a:srgbClr val="004445"/>
                        </a:solidFill>
                        <a:latin typeface="Montserrat"/>
                        <a:ea typeface="Times New Roman" pitchFamily="18"/>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9AC5CE"/>
                    </a:solidFill>
                  </a:tcPr>
                </a:tc>
                <a:tc>
                  <a:txBody>
                    <a:bodyPr/>
                    <a:lstStyle/>
                    <a:p>
                      <a:pPr marL="0" marR="0" lvl="0" indent="0" algn="ctr" defTabSz="914400" rtl="0" fontAlgn="auto" hangingPunct="1">
                        <a:lnSpc>
                          <a:spcPct val="115000"/>
                        </a:lnSpc>
                        <a:spcBef>
                          <a:spcPts val="0"/>
                        </a:spcBef>
                        <a:spcAft>
                          <a:spcPts val="0"/>
                        </a:spcAft>
                        <a:buNone/>
                        <a:tabLst/>
                      </a:pPr>
                      <a:r>
                        <a:rPr lang="en-US" sz="900" b="1" i="0" u="none" strike="noStrike" kern="0" cap="none" spc="0" baseline="0" dirty="0">
                          <a:solidFill>
                            <a:srgbClr val="004445"/>
                          </a:solidFill>
                          <a:uFillTx/>
                          <a:latin typeface="Montserrat"/>
                          <a:ea typeface="Times New Roman" pitchFamily="18"/>
                          <a:cs typeface="Times New Roman"/>
                        </a:rPr>
                        <a:t>Battery I</a:t>
                      </a:r>
                    </a:p>
                    <a:p>
                      <a:pPr marL="0" marR="0" lvl="0" indent="0" algn="ctr" defTabSz="914400" rtl="0" fontAlgn="auto" hangingPunct="1">
                        <a:lnSpc>
                          <a:spcPct val="115000"/>
                        </a:lnSpc>
                        <a:spcBef>
                          <a:spcPts val="0"/>
                        </a:spcBef>
                        <a:spcAft>
                          <a:spcPts val="0"/>
                        </a:spcAft>
                        <a:buNone/>
                        <a:tabLst/>
                      </a:pPr>
                      <a:r>
                        <a:rPr lang="en-US" sz="700" b="0" i="0" u="none" strike="noStrike" kern="0" cap="none" spc="0" baseline="0" dirty="0">
                          <a:solidFill>
                            <a:srgbClr val="004445"/>
                          </a:solidFill>
                          <a:uFillTx/>
                          <a:latin typeface="Montserrat"/>
                          <a:ea typeface="MS Mincho"/>
                          <a:cs typeface="Times New Roman"/>
                        </a:rPr>
                        <a:t>(150 kWh, 25 kW)</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9AC5CE"/>
                    </a:solidFill>
                  </a:tcPr>
                </a:tc>
                <a:tc>
                  <a:txBody>
                    <a:bodyPr/>
                    <a:lstStyle/>
                    <a:p>
                      <a:pPr marL="0" marR="0" lvl="0" indent="0" algn="ctr" defTabSz="914400" rtl="0" fontAlgn="auto" hangingPunct="1">
                        <a:lnSpc>
                          <a:spcPct val="115000"/>
                        </a:lnSpc>
                        <a:spcBef>
                          <a:spcPts val="0"/>
                        </a:spcBef>
                        <a:spcAft>
                          <a:spcPts val="0"/>
                        </a:spcAft>
                        <a:buNone/>
                        <a:tabLst/>
                      </a:pPr>
                      <a:r>
                        <a:rPr lang="en-US" sz="900" b="1" i="0" u="none" strike="noStrike" kern="0" cap="none" spc="0" baseline="0" dirty="0">
                          <a:solidFill>
                            <a:srgbClr val="004445"/>
                          </a:solidFill>
                          <a:uFillTx/>
                          <a:latin typeface="Montserrat"/>
                          <a:ea typeface="Times New Roman" pitchFamily="18"/>
                          <a:cs typeface="Times New Roman"/>
                        </a:rPr>
                        <a:t>Battery II</a:t>
                      </a:r>
                    </a:p>
                    <a:p>
                      <a:pPr marL="0" marR="0" lvl="0" indent="0" algn="ctr" defTabSz="914400" rtl="0" fontAlgn="auto" hangingPunct="1">
                        <a:lnSpc>
                          <a:spcPct val="115000"/>
                        </a:lnSpc>
                        <a:spcBef>
                          <a:spcPts val="0"/>
                        </a:spcBef>
                        <a:spcAft>
                          <a:spcPts val="0"/>
                        </a:spcAft>
                        <a:buNone/>
                        <a:tabLst/>
                      </a:pPr>
                      <a:r>
                        <a:rPr lang="en-US" sz="700" b="0" i="0" u="none" strike="noStrike" kern="0" cap="none" spc="0" baseline="0" dirty="0">
                          <a:solidFill>
                            <a:srgbClr val="004445"/>
                          </a:solidFill>
                          <a:uFillTx/>
                          <a:latin typeface="Montserrat"/>
                          <a:ea typeface="MS Mincho"/>
                          <a:cs typeface="Times New Roman"/>
                        </a:rPr>
                        <a:t>(150 kWh, 25 kW)</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9AC5CE"/>
                    </a:solidFill>
                  </a:tcPr>
                </a:tc>
                <a:extLst>
                  <a:ext uri="{0D108BD9-81ED-4DB2-BD59-A6C34878D82A}">
                    <a16:rowId xmlns:a16="http://schemas.microsoft.com/office/drawing/2014/main" val="3578289664"/>
                  </a:ext>
                </a:extLst>
              </a:tr>
              <a:tr h="687226">
                <a:tc vMerge="1">
                  <a:txBody>
                    <a:bodyPr/>
                    <a:lstStyle/>
                    <a:p>
                      <a:endParaRPr lang="fr-FR"/>
                    </a:p>
                  </a:txBody>
                  <a:tcPr/>
                </a:tc>
                <a:tc>
                  <a:txBody>
                    <a:bodyPr/>
                    <a:lstStyle/>
                    <a:p>
                      <a:pPr lvl="0" algn="ctr">
                        <a:lnSpc>
                          <a:spcPct val="115000"/>
                        </a:lnSpc>
                        <a:buNone/>
                      </a:pPr>
                      <a:r>
                        <a:rPr lang="en-US" sz="800" b="0">
                          <a:solidFill>
                            <a:srgbClr val="004445"/>
                          </a:solidFill>
                          <a:latin typeface="Montserrat"/>
                          <a:ea typeface="MS Mincho"/>
                          <a:cs typeface="Times New Roman"/>
                        </a:rPr>
                        <a:t>PV installed</a:t>
                      </a:r>
                      <a:endParaRPr lang="en-US" sz="900" b="0">
                        <a:solidFill>
                          <a:srgbClr val="004445"/>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C1D9CB"/>
                    </a:solidFill>
                  </a:tcPr>
                </a:tc>
                <a:tc>
                  <a:txBody>
                    <a:bodyPr/>
                    <a:lstStyle/>
                    <a:p>
                      <a:pPr lvl="0" algn="ctr">
                        <a:lnSpc>
                          <a:spcPct val="115000"/>
                        </a:lnSpc>
                        <a:buNone/>
                      </a:pPr>
                      <a:r>
                        <a:rPr lang="en-US" sz="600" b="0">
                          <a:solidFill>
                            <a:srgbClr val="004445"/>
                          </a:solidFill>
                          <a:latin typeface="Montserrat"/>
                          <a:ea typeface="MS Mincho"/>
                          <a:cs typeface="Times New Roman"/>
                        </a:rPr>
                        <a:t>Peak Shaving, Arbitrage,</a:t>
                      </a:r>
                    </a:p>
                    <a:p>
                      <a:pPr lvl="0" algn="ctr">
                        <a:lnSpc>
                          <a:spcPct val="115000"/>
                        </a:lnSpc>
                        <a:buNone/>
                      </a:pPr>
                      <a:r>
                        <a:rPr lang="en-US" sz="600" b="0">
                          <a:solidFill>
                            <a:srgbClr val="004445"/>
                          </a:solidFill>
                          <a:latin typeface="Montserrat"/>
                          <a:ea typeface="MS Mincho"/>
                          <a:cs typeface="Times New Roman"/>
                        </a:rPr>
                        <a:t>Ancillary Market revenues</a:t>
                      </a:r>
                    </a:p>
                    <a:p>
                      <a:pPr lvl="0" algn="ctr">
                        <a:lnSpc>
                          <a:spcPct val="115000"/>
                        </a:lnSpc>
                        <a:buNone/>
                      </a:pPr>
                      <a:endParaRPr lang="en-US" sz="400" b="0">
                        <a:solidFill>
                          <a:srgbClr val="004445"/>
                        </a:solidFill>
                        <a:latin typeface="Montserrat" pitchFamily="2"/>
                        <a:ea typeface="MS Mincho" pitchFamily="49"/>
                        <a:cs typeface="Times New Roman" pitchFamily="18"/>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C1D9CB"/>
                    </a:solidFill>
                  </a:tcPr>
                </a:tc>
                <a:tc>
                  <a:txBody>
                    <a:bodyPr/>
                    <a:lstStyle/>
                    <a:p>
                      <a:pPr lvl="0" algn="ctr">
                        <a:lnSpc>
                          <a:spcPct val="115000"/>
                        </a:lnSpc>
                        <a:buNone/>
                      </a:pPr>
                      <a:r>
                        <a:rPr lang="en-US" sz="600" b="0">
                          <a:solidFill>
                            <a:srgbClr val="004445"/>
                          </a:solidFill>
                          <a:latin typeface="Montserrat"/>
                          <a:ea typeface="MS Mincho"/>
                          <a:cs typeface="Times New Roman"/>
                        </a:rPr>
                        <a:t>Self-sufficiency objective and Peak Shaving, Arbitrage,</a:t>
                      </a:r>
                    </a:p>
                    <a:p>
                      <a:pPr lvl="0" algn="ctr">
                        <a:lnSpc>
                          <a:spcPct val="115000"/>
                        </a:lnSpc>
                        <a:buNone/>
                      </a:pPr>
                      <a:r>
                        <a:rPr lang="en-US" sz="600" b="0">
                          <a:solidFill>
                            <a:srgbClr val="004445"/>
                          </a:solidFill>
                          <a:latin typeface="Montserrat"/>
                          <a:ea typeface="MS Mincho"/>
                          <a:cs typeface="Times New Roman"/>
                        </a:rPr>
                        <a:t>Ancillary Market revenues</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C1D9CB"/>
                    </a:solidFill>
                  </a:tcPr>
                </a:tc>
                <a:tc>
                  <a:txBody>
                    <a:bodyPr/>
                    <a:lstStyle/>
                    <a:p>
                      <a:pPr lvl="0" algn="ctr">
                        <a:lnSpc>
                          <a:spcPct val="115000"/>
                        </a:lnSpc>
                        <a:buNone/>
                      </a:pPr>
                      <a:r>
                        <a:rPr lang="en-US" sz="800" b="0">
                          <a:solidFill>
                            <a:srgbClr val="004445"/>
                          </a:solidFill>
                          <a:latin typeface="Montserrat"/>
                          <a:ea typeface="MS Mincho"/>
                          <a:cs typeface="Times New Roman"/>
                        </a:rPr>
                        <a:t>PV installed</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9AC5CE"/>
                    </a:solidFill>
                  </a:tcPr>
                </a:tc>
                <a:tc>
                  <a:txBody>
                    <a:bodyPr/>
                    <a:lstStyle/>
                    <a:p>
                      <a:pPr lvl="0" algn="ctr">
                        <a:lnSpc>
                          <a:spcPct val="115000"/>
                        </a:lnSpc>
                        <a:buNone/>
                      </a:pPr>
                      <a:r>
                        <a:rPr lang="en-US" sz="600" b="0">
                          <a:solidFill>
                            <a:srgbClr val="004445"/>
                          </a:solidFill>
                          <a:latin typeface="Montserrat"/>
                          <a:ea typeface="MS Mincho"/>
                          <a:cs typeface="Times New Roman"/>
                        </a:rPr>
                        <a:t>Peak Shaving, Arbitrage, Ancillary Market revenues</a:t>
                      </a:r>
                      <a:endParaRPr lang="en-US" sz="400" b="0">
                        <a:solidFill>
                          <a:srgbClr val="004445"/>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9AC5CE"/>
                    </a:solidFill>
                  </a:tcPr>
                </a:tc>
                <a:tc>
                  <a:txBody>
                    <a:bodyPr/>
                    <a:lstStyle/>
                    <a:p>
                      <a:pPr lvl="0" algn="ctr">
                        <a:lnSpc>
                          <a:spcPct val="115000"/>
                        </a:lnSpc>
                        <a:buNone/>
                      </a:pPr>
                      <a:r>
                        <a:rPr lang="en-US" sz="600" b="0">
                          <a:solidFill>
                            <a:srgbClr val="004445"/>
                          </a:solidFill>
                          <a:latin typeface="Montserrat"/>
                          <a:ea typeface="MS Mincho"/>
                          <a:cs typeface="Times New Roman"/>
                        </a:rPr>
                        <a:t>Self-sufficiency objective and Peak Shaving, Arbitrage,</a:t>
                      </a:r>
                    </a:p>
                    <a:p>
                      <a:pPr lvl="0" algn="ctr">
                        <a:lnSpc>
                          <a:spcPct val="115000"/>
                        </a:lnSpc>
                        <a:buNone/>
                      </a:pPr>
                      <a:r>
                        <a:rPr lang="en-US" sz="600" b="0">
                          <a:solidFill>
                            <a:srgbClr val="004445"/>
                          </a:solidFill>
                          <a:latin typeface="Montserrat"/>
                          <a:ea typeface="MS Mincho"/>
                          <a:cs typeface="Times New Roman"/>
                        </a:rPr>
                        <a:t>Ancillary Market revenues</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9AC5CE"/>
                    </a:solidFill>
                  </a:tcPr>
                </a:tc>
                <a:extLst>
                  <a:ext uri="{0D108BD9-81ED-4DB2-BD59-A6C34878D82A}">
                    <a16:rowId xmlns:a16="http://schemas.microsoft.com/office/drawing/2014/main" val="3862578949"/>
                  </a:ext>
                </a:extLst>
              </a:tr>
              <a:tr h="381972">
                <a:tc>
                  <a:txBody>
                    <a:bodyPr/>
                    <a:lstStyle/>
                    <a:p>
                      <a:pPr lvl="0" algn="l">
                        <a:lnSpc>
                          <a:spcPct val="115000"/>
                        </a:lnSpc>
                        <a:buNone/>
                      </a:pPr>
                      <a:r>
                        <a:rPr lang="en-US" sz="800" b="1">
                          <a:solidFill>
                            <a:srgbClr val="004445"/>
                          </a:solidFill>
                          <a:latin typeface="Montserrat"/>
                          <a:ea typeface="Times New Roman" pitchFamily="18"/>
                          <a:cs typeface="Times New Roman"/>
                        </a:rPr>
                        <a:t>Total investments</a:t>
                      </a:r>
                      <a:r>
                        <a:rPr lang="en-US" sz="800" b="0">
                          <a:solidFill>
                            <a:srgbClr val="004445"/>
                          </a:solidFill>
                          <a:latin typeface="Montserrat"/>
                          <a:ea typeface="Times New Roman" pitchFamily="18"/>
                          <a:cs typeface="Times New Roman"/>
                        </a:rPr>
                        <a:t> </a:t>
                      </a:r>
                      <a:endParaRPr lang="en-US" sz="800" b="1">
                        <a:solidFill>
                          <a:srgbClr val="082A75"/>
                        </a:solidFill>
                        <a:latin typeface="Montserrat"/>
                        <a:ea typeface="MS Mincho" pitchFamily="49"/>
                        <a:cs typeface="Times New Roman"/>
                      </a:endParaRPr>
                    </a:p>
                    <a:p>
                      <a:pPr lvl="0" algn="l">
                        <a:lnSpc>
                          <a:spcPct val="115000"/>
                        </a:lnSpc>
                        <a:buNone/>
                      </a:pPr>
                      <a:r>
                        <a:rPr lang="en-US" sz="800" b="0">
                          <a:solidFill>
                            <a:srgbClr val="004445"/>
                          </a:solidFill>
                          <a:latin typeface="Montserrat"/>
                          <a:ea typeface="Times New Roman" pitchFamily="18"/>
                          <a:cs typeface="Times New Roman"/>
                        </a:rPr>
                        <a:t>PV or Battery (B)</a:t>
                      </a:r>
                      <a:endParaRPr lang="en-US" sz="800" b="1">
                        <a:solidFill>
                          <a:srgbClr val="082A75"/>
                        </a:solidFill>
                        <a:latin typeface="Montserrat"/>
                        <a:ea typeface="MS Mincho" pitchFamily="49"/>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C1D9CB"/>
                    </a:solidFill>
                  </a:tcPr>
                </a:tc>
                <a:tc>
                  <a:txBody>
                    <a:bodyPr/>
                    <a:lstStyle/>
                    <a:p>
                      <a:pPr lvl="0" algn="ctr">
                        <a:lnSpc>
                          <a:spcPct val="115000"/>
                        </a:lnSpc>
                        <a:buNone/>
                      </a:pPr>
                      <a:r>
                        <a:rPr lang="en-US" sz="800" b="0" dirty="0">
                          <a:solidFill>
                            <a:srgbClr val="000000"/>
                          </a:solidFill>
                          <a:latin typeface="Montserrat"/>
                          <a:ea typeface="Times New Roman" pitchFamily="18"/>
                          <a:cs typeface="Times New Roman"/>
                        </a:rPr>
                        <a:t>PV: €0</a:t>
                      </a:r>
                      <a:endParaRPr lang="en-US" sz="800" b="1" dirty="0">
                        <a:solidFill>
                          <a:srgbClr val="082A75"/>
                        </a:solidFill>
                        <a:latin typeface="Montserrat"/>
                        <a:ea typeface="MS Mincho" pitchFamily="49"/>
                        <a:cs typeface="Times New Roman"/>
                      </a:endParaRPr>
                    </a:p>
                    <a:p>
                      <a:pPr lvl="0" algn="ctr">
                        <a:lnSpc>
                          <a:spcPct val="115000"/>
                        </a:lnSpc>
                        <a:buNone/>
                      </a:pPr>
                      <a:r>
                        <a:rPr lang="en-US" sz="800" b="0" dirty="0">
                          <a:solidFill>
                            <a:srgbClr val="000000"/>
                          </a:solidFill>
                          <a:latin typeface="Montserrat"/>
                          <a:ea typeface="Times New Roman" pitchFamily="18"/>
                          <a:cs typeface="Times New Roman"/>
                        </a:rPr>
                        <a:t> B: €0</a:t>
                      </a:r>
                      <a:endParaRPr lang="en-US" sz="800" b="1" dirty="0">
                        <a:solidFill>
                          <a:srgbClr val="082A75"/>
                        </a:solidFill>
                        <a:latin typeface="Montserrat"/>
                        <a:ea typeface="MS Mincho" pitchFamily="49"/>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C1D9CB"/>
                    </a:solidFill>
                  </a:tcPr>
                </a:tc>
                <a:tc>
                  <a:txBody>
                    <a:bodyPr/>
                    <a:lstStyle/>
                    <a:p>
                      <a:pPr lvl="0" algn="ctr">
                        <a:lnSpc>
                          <a:spcPct val="115000"/>
                        </a:lnSpc>
                        <a:buNone/>
                      </a:pPr>
                      <a:r>
                        <a:rPr lang="en-US" sz="800" b="0" dirty="0">
                          <a:solidFill>
                            <a:srgbClr val="000000"/>
                          </a:solidFill>
                          <a:latin typeface="Montserrat"/>
                          <a:ea typeface="Times New Roman" pitchFamily="18"/>
                          <a:cs typeface="Times New Roman"/>
                        </a:rPr>
                        <a:t>PV: €0</a:t>
                      </a:r>
                      <a:endParaRPr lang="en-US" sz="800" b="1" dirty="0">
                        <a:solidFill>
                          <a:srgbClr val="082A75"/>
                        </a:solidFill>
                        <a:latin typeface="Montserrat"/>
                        <a:ea typeface="MS Mincho" pitchFamily="49"/>
                        <a:cs typeface="Times New Roman"/>
                      </a:endParaRPr>
                    </a:p>
                    <a:p>
                      <a:pPr lvl="0" algn="ctr">
                        <a:lnSpc>
                          <a:spcPct val="115000"/>
                        </a:lnSpc>
                        <a:buNone/>
                      </a:pPr>
                      <a:r>
                        <a:rPr lang="en-US" sz="800" b="0" dirty="0">
                          <a:solidFill>
                            <a:srgbClr val="000000"/>
                          </a:solidFill>
                          <a:latin typeface="Montserrat"/>
                          <a:ea typeface="Times New Roman" pitchFamily="18"/>
                          <a:cs typeface="Times New Roman"/>
                        </a:rPr>
                        <a:t>B: €60000</a:t>
                      </a:r>
                      <a:endParaRPr lang="en-US" sz="800" b="1" dirty="0">
                        <a:solidFill>
                          <a:srgbClr val="082A75"/>
                        </a:solidFill>
                        <a:latin typeface="Montserrat"/>
                        <a:ea typeface="MS Mincho" pitchFamily="49"/>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C1D9CB"/>
                    </a:solidFill>
                  </a:tcPr>
                </a:tc>
                <a:tc>
                  <a:txBody>
                    <a:bodyPr/>
                    <a:lstStyle/>
                    <a:p>
                      <a:pPr lvl="0" algn="ctr">
                        <a:lnSpc>
                          <a:spcPct val="115000"/>
                        </a:lnSpc>
                        <a:buNone/>
                      </a:pPr>
                      <a:r>
                        <a:rPr lang="en-US" sz="800" b="0" dirty="0">
                          <a:solidFill>
                            <a:srgbClr val="000000"/>
                          </a:solidFill>
                          <a:latin typeface="Montserrat"/>
                          <a:ea typeface="Times New Roman" pitchFamily="18"/>
                          <a:cs typeface="Times New Roman"/>
                        </a:rPr>
                        <a:t>PV: €0</a:t>
                      </a:r>
                      <a:endParaRPr lang="en-US" sz="800" b="1" dirty="0">
                        <a:solidFill>
                          <a:srgbClr val="082A75"/>
                        </a:solidFill>
                        <a:latin typeface="Montserrat" pitchFamily="2"/>
                        <a:ea typeface="MS Mincho" pitchFamily="49"/>
                        <a:cs typeface="Times New Roman" pitchFamily="18"/>
                      </a:endParaRPr>
                    </a:p>
                    <a:p>
                      <a:pPr lvl="0" algn="ctr">
                        <a:lnSpc>
                          <a:spcPct val="115000"/>
                        </a:lnSpc>
                        <a:buNone/>
                      </a:pPr>
                      <a:r>
                        <a:rPr lang="en-US" sz="800" b="0" dirty="0">
                          <a:solidFill>
                            <a:srgbClr val="000000"/>
                          </a:solidFill>
                          <a:latin typeface="Montserrat"/>
                          <a:ea typeface="Times New Roman" pitchFamily="18"/>
                          <a:cs typeface="Times New Roman"/>
                        </a:rPr>
                        <a:t>B: €60000</a:t>
                      </a:r>
                      <a:endParaRPr lang="en-US" sz="800" b="1" dirty="0">
                        <a:solidFill>
                          <a:srgbClr val="082A75"/>
                        </a:solidFill>
                        <a:latin typeface="Montserrat" pitchFamily="2"/>
                        <a:ea typeface="MS Mincho" pitchFamily="49"/>
                        <a:cs typeface="Times New Roman" pitchFamily="18"/>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C1D9CB"/>
                    </a:solidFill>
                  </a:tcPr>
                </a:tc>
                <a:tc>
                  <a:txBody>
                    <a:bodyPr/>
                    <a:lstStyle/>
                    <a:p>
                      <a:pPr lvl="0" algn="ctr">
                        <a:lnSpc>
                          <a:spcPct val="115000"/>
                        </a:lnSpc>
                        <a:buNone/>
                      </a:pPr>
                      <a:r>
                        <a:rPr lang="en-US" sz="800" b="0" dirty="0">
                          <a:solidFill>
                            <a:srgbClr val="000000"/>
                          </a:solidFill>
                          <a:latin typeface="Montserrat"/>
                          <a:ea typeface="Times New Roman" pitchFamily="18"/>
                          <a:cs typeface="Times New Roman"/>
                        </a:rPr>
                        <a:t>PV: €0</a:t>
                      </a:r>
                      <a:endParaRPr lang="en-US" sz="800" b="1" dirty="0">
                        <a:solidFill>
                          <a:srgbClr val="082A75"/>
                        </a:solidFill>
                        <a:latin typeface="Montserrat"/>
                        <a:ea typeface="MS Mincho" pitchFamily="49"/>
                        <a:cs typeface="Times New Roman"/>
                      </a:endParaRPr>
                    </a:p>
                    <a:p>
                      <a:pPr lvl="0" algn="ctr">
                        <a:lnSpc>
                          <a:spcPct val="115000"/>
                        </a:lnSpc>
                        <a:buNone/>
                      </a:pPr>
                      <a:r>
                        <a:rPr lang="en-US" sz="800" b="0" dirty="0">
                          <a:solidFill>
                            <a:srgbClr val="000000"/>
                          </a:solidFill>
                          <a:latin typeface="Montserrat"/>
                          <a:ea typeface="Times New Roman" pitchFamily="18"/>
                          <a:cs typeface="Times New Roman"/>
                        </a:rPr>
                        <a:t> B: €0</a:t>
                      </a:r>
                      <a:endParaRPr lang="en-US" sz="800" b="1" dirty="0">
                        <a:solidFill>
                          <a:srgbClr val="082A75"/>
                        </a:solidFill>
                        <a:latin typeface="Montserrat"/>
                        <a:ea typeface="MS Mincho" pitchFamily="49"/>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9AC5CE"/>
                    </a:solidFill>
                  </a:tcPr>
                </a:tc>
                <a:tc>
                  <a:txBody>
                    <a:bodyPr/>
                    <a:lstStyle/>
                    <a:p>
                      <a:pPr lvl="0" algn="ctr">
                        <a:lnSpc>
                          <a:spcPct val="115000"/>
                        </a:lnSpc>
                        <a:buNone/>
                      </a:pPr>
                      <a:r>
                        <a:rPr lang="en-US" sz="800" b="0" dirty="0">
                          <a:solidFill>
                            <a:srgbClr val="000000"/>
                          </a:solidFill>
                          <a:latin typeface="Montserrat"/>
                          <a:ea typeface="Times New Roman" pitchFamily="18"/>
                          <a:cs typeface="Times New Roman"/>
                        </a:rPr>
                        <a:t>PV: €0</a:t>
                      </a:r>
                      <a:endParaRPr lang="en-US" sz="800" b="1" dirty="0">
                        <a:solidFill>
                          <a:srgbClr val="082A75"/>
                        </a:solidFill>
                        <a:latin typeface="Montserrat" pitchFamily="2"/>
                        <a:ea typeface="MS Mincho" pitchFamily="49"/>
                        <a:cs typeface="Times New Roman" pitchFamily="18"/>
                      </a:endParaRPr>
                    </a:p>
                    <a:p>
                      <a:pPr lvl="0" algn="ctr">
                        <a:lnSpc>
                          <a:spcPct val="115000"/>
                        </a:lnSpc>
                        <a:buNone/>
                      </a:pPr>
                      <a:r>
                        <a:rPr lang="en-US" sz="800" b="0" dirty="0">
                          <a:solidFill>
                            <a:srgbClr val="000000"/>
                          </a:solidFill>
                          <a:latin typeface="Montserrat"/>
                          <a:ea typeface="Times New Roman" pitchFamily="18"/>
                          <a:cs typeface="Times New Roman"/>
                        </a:rPr>
                        <a:t>B: €60000</a:t>
                      </a:r>
                      <a:endParaRPr lang="en-US" sz="800" b="1" dirty="0">
                        <a:solidFill>
                          <a:srgbClr val="082A75"/>
                        </a:solidFill>
                        <a:latin typeface="Montserrat" pitchFamily="2"/>
                        <a:ea typeface="MS Mincho" pitchFamily="49"/>
                        <a:cs typeface="Times New Roman" pitchFamily="18"/>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9AC5CE"/>
                    </a:solidFill>
                  </a:tcPr>
                </a:tc>
                <a:tc>
                  <a:txBody>
                    <a:bodyPr/>
                    <a:lstStyle/>
                    <a:p>
                      <a:pPr lvl="0" algn="ctr">
                        <a:lnSpc>
                          <a:spcPct val="115000"/>
                        </a:lnSpc>
                        <a:buNone/>
                      </a:pPr>
                      <a:r>
                        <a:rPr lang="en-US" sz="800" b="0" dirty="0">
                          <a:solidFill>
                            <a:srgbClr val="000000"/>
                          </a:solidFill>
                          <a:latin typeface="Montserrat"/>
                          <a:ea typeface="Times New Roman" pitchFamily="18"/>
                          <a:cs typeface="Times New Roman"/>
                        </a:rPr>
                        <a:t>PV: €0</a:t>
                      </a:r>
                      <a:endParaRPr lang="en-US" sz="800" b="1" dirty="0">
                        <a:solidFill>
                          <a:srgbClr val="082A75"/>
                        </a:solidFill>
                        <a:latin typeface="Montserrat"/>
                        <a:ea typeface="MS Mincho" pitchFamily="49"/>
                        <a:cs typeface="Times New Roman"/>
                      </a:endParaRPr>
                    </a:p>
                    <a:p>
                      <a:pPr lvl="0" algn="ctr">
                        <a:lnSpc>
                          <a:spcPct val="115000"/>
                        </a:lnSpc>
                        <a:buNone/>
                      </a:pPr>
                      <a:r>
                        <a:rPr lang="en-US" sz="800" b="0" dirty="0">
                          <a:solidFill>
                            <a:srgbClr val="000000"/>
                          </a:solidFill>
                          <a:latin typeface="Montserrat"/>
                          <a:ea typeface="Times New Roman" pitchFamily="18"/>
                          <a:cs typeface="Times New Roman"/>
                        </a:rPr>
                        <a:t>B: €60000</a:t>
                      </a:r>
                      <a:endParaRPr lang="en-US" sz="800" b="1" dirty="0">
                        <a:solidFill>
                          <a:srgbClr val="082A75"/>
                        </a:solidFill>
                        <a:latin typeface="Montserrat"/>
                        <a:ea typeface="MS Mincho" pitchFamily="49"/>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9AC5CE"/>
                    </a:solidFill>
                  </a:tcPr>
                </a:tc>
                <a:extLst>
                  <a:ext uri="{0D108BD9-81ED-4DB2-BD59-A6C34878D82A}">
                    <a16:rowId xmlns:a16="http://schemas.microsoft.com/office/drawing/2014/main" val="3508682711"/>
                  </a:ext>
                </a:extLst>
              </a:tr>
              <a:tr h="382685">
                <a:tc>
                  <a:txBody>
                    <a:bodyPr/>
                    <a:lstStyle/>
                    <a:p>
                      <a:pPr lvl="0" algn="l">
                        <a:lnSpc>
                          <a:spcPct val="115000"/>
                        </a:lnSpc>
                        <a:buNone/>
                      </a:pPr>
                      <a:r>
                        <a:rPr lang="en-US" sz="800" b="1">
                          <a:solidFill>
                            <a:srgbClr val="004445"/>
                          </a:solidFill>
                          <a:latin typeface="Montserrat"/>
                          <a:ea typeface="Times New Roman" pitchFamily="18"/>
                          <a:cs typeface="Times New Roman"/>
                        </a:rPr>
                        <a:t>Average electricity cost / year</a:t>
                      </a:r>
                      <a:endParaRPr lang="en-US" sz="800" b="1">
                        <a:solidFill>
                          <a:srgbClr val="082A75"/>
                        </a:solidFill>
                        <a:latin typeface="Montserrat"/>
                        <a:ea typeface="MS Mincho" pitchFamily="49"/>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dirty="0">
                          <a:solidFill>
                            <a:srgbClr val="020F1E"/>
                          </a:solidFill>
                          <a:latin typeface="Montserrat"/>
                          <a:ea typeface="Times New Roman" pitchFamily="18"/>
                          <a:cs typeface="Times New Roman"/>
                        </a:rPr>
                        <a:t>€0.008/kWh</a:t>
                      </a:r>
                      <a:endParaRPr lang="en-US" sz="800" b="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dirty="0">
                          <a:solidFill>
                            <a:srgbClr val="020F1E"/>
                          </a:solidFill>
                          <a:latin typeface="Montserrat"/>
                          <a:ea typeface="Times New Roman" pitchFamily="18"/>
                          <a:cs typeface="Times New Roman"/>
                        </a:rPr>
                        <a:t>€0.0026/kWh</a:t>
                      </a:r>
                      <a:endParaRPr lang="en-US" sz="800" b="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dirty="0">
                          <a:solidFill>
                            <a:srgbClr val="020F1E"/>
                          </a:solidFill>
                          <a:latin typeface="Montserrat"/>
                          <a:ea typeface="Times New Roman" pitchFamily="18"/>
                          <a:cs typeface="Times New Roman"/>
                        </a:rPr>
                        <a:t>€0.0066/kWh</a:t>
                      </a:r>
                      <a:endParaRPr lang="en-US" sz="800" b="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dirty="0">
                          <a:solidFill>
                            <a:srgbClr val="020F1E"/>
                          </a:solidFill>
                          <a:latin typeface="Montserrat"/>
                          <a:ea typeface="Times New Roman" pitchFamily="18"/>
                          <a:cs typeface="Times New Roman"/>
                        </a:rPr>
                        <a:t>€0.013/kWh</a:t>
                      </a:r>
                      <a:endParaRPr lang="en-US" sz="800" b="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dirty="0">
                          <a:solidFill>
                            <a:srgbClr val="020F1E"/>
                          </a:solidFill>
                          <a:latin typeface="Montserrat"/>
                          <a:ea typeface="Times New Roman" pitchFamily="18"/>
                          <a:cs typeface="Times New Roman"/>
                        </a:rPr>
                        <a:t>€0/kWh</a:t>
                      </a:r>
                      <a:endParaRPr lang="en-US" sz="800" b="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dirty="0">
                          <a:solidFill>
                            <a:srgbClr val="020F1E"/>
                          </a:solidFill>
                          <a:latin typeface="Montserrat"/>
                          <a:ea typeface="Times New Roman" pitchFamily="18"/>
                          <a:cs typeface="Times New Roman"/>
                        </a:rPr>
                        <a:t>€0.0066/kWh</a:t>
                      </a:r>
                      <a:endParaRPr lang="en-US" sz="800" b="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94644939"/>
                  </a:ext>
                </a:extLst>
              </a:tr>
              <a:tr h="382685">
                <a:tc>
                  <a:txBody>
                    <a:bodyPr/>
                    <a:lstStyle/>
                    <a:p>
                      <a:pPr lvl="0" algn="l">
                        <a:lnSpc>
                          <a:spcPct val="115000"/>
                        </a:lnSpc>
                        <a:buNone/>
                      </a:pPr>
                      <a:r>
                        <a:rPr lang="en-US" sz="800" b="1">
                          <a:solidFill>
                            <a:srgbClr val="004445"/>
                          </a:solidFill>
                          <a:latin typeface="Montserrat"/>
                          <a:ea typeface="Times New Roman" pitchFamily="18"/>
                          <a:cs typeface="Times New Roman"/>
                        </a:rPr>
                        <a:t>Total annual electricity cost</a:t>
                      </a:r>
                      <a:endParaRPr lang="en-US" sz="800" b="1">
                        <a:solidFill>
                          <a:srgbClr val="082A75"/>
                        </a:solidFill>
                        <a:latin typeface="Montserrat"/>
                        <a:ea typeface="MS Mincho" pitchFamily="49"/>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dirty="0">
                          <a:solidFill>
                            <a:srgbClr val="000000"/>
                          </a:solidFill>
                          <a:latin typeface="Montserrat"/>
                          <a:ea typeface="Times New Roman" pitchFamily="18"/>
                          <a:cs typeface="Times New Roman"/>
                        </a:rPr>
                        <a:t>€638.0</a:t>
                      </a:r>
                      <a:endParaRPr lang="en-US" sz="800" b="0" dirty="0">
                        <a:solidFill>
                          <a:srgbClr val="082A75"/>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dirty="0">
                          <a:solidFill>
                            <a:srgbClr val="000000"/>
                          </a:solidFill>
                          <a:latin typeface="Montserrat"/>
                          <a:ea typeface="Times New Roman" pitchFamily="18"/>
                          <a:cs typeface="Times New Roman"/>
                        </a:rPr>
                        <a:t>€214.0</a:t>
                      </a:r>
                      <a:endParaRPr lang="en-US" sz="800" b="0" dirty="0">
                        <a:solidFill>
                          <a:srgbClr val="082A75"/>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dirty="0">
                          <a:solidFill>
                            <a:srgbClr val="000000"/>
                          </a:solidFill>
                          <a:latin typeface="Montserrat"/>
                          <a:ea typeface="Times New Roman" pitchFamily="18"/>
                          <a:cs typeface="Times New Roman"/>
                        </a:rPr>
                        <a:t>€533.0</a:t>
                      </a:r>
                      <a:endParaRPr lang="en-US" sz="800" b="0" dirty="0">
                        <a:solidFill>
                          <a:srgbClr val="082A75"/>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dirty="0">
                          <a:solidFill>
                            <a:srgbClr val="000000"/>
                          </a:solidFill>
                          <a:latin typeface="Montserrat"/>
                          <a:ea typeface="Times New Roman" pitchFamily="18"/>
                          <a:cs typeface="Times New Roman"/>
                        </a:rPr>
                        <a:t>€1095.0</a:t>
                      </a:r>
                      <a:endParaRPr lang="en-US" sz="800" b="0" dirty="0">
                        <a:solidFill>
                          <a:srgbClr val="082A75"/>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dirty="0">
                          <a:solidFill>
                            <a:srgbClr val="000000"/>
                          </a:solidFill>
                          <a:latin typeface="Montserrat"/>
                          <a:ea typeface="Times New Roman" pitchFamily="18"/>
                          <a:cs typeface="Times New Roman"/>
                        </a:rPr>
                        <a:t>€0*</a:t>
                      </a:r>
                      <a:endParaRPr lang="en-US" sz="800" b="0" dirty="0">
                        <a:solidFill>
                          <a:srgbClr val="082A75"/>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dirty="0">
                          <a:solidFill>
                            <a:srgbClr val="000000"/>
                          </a:solidFill>
                          <a:latin typeface="Montserrat"/>
                          <a:ea typeface="Times New Roman" pitchFamily="18"/>
                          <a:cs typeface="Times New Roman"/>
                        </a:rPr>
                        <a:t>€539.0</a:t>
                      </a:r>
                      <a:endParaRPr lang="en-US" sz="800" b="0" dirty="0">
                        <a:solidFill>
                          <a:srgbClr val="082A75"/>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140170191"/>
                  </a:ext>
                </a:extLst>
              </a:tr>
              <a:tr h="382685">
                <a:tc>
                  <a:txBody>
                    <a:bodyPr/>
                    <a:lstStyle/>
                    <a:p>
                      <a:pPr lvl="0" algn="l">
                        <a:lnSpc>
                          <a:spcPct val="115000"/>
                        </a:lnSpc>
                        <a:buNone/>
                      </a:pPr>
                      <a:r>
                        <a:rPr lang="en-US" sz="800" b="1">
                          <a:solidFill>
                            <a:srgbClr val="004445"/>
                          </a:solidFill>
                          <a:latin typeface="Montserrat"/>
                          <a:ea typeface="Times New Roman" pitchFamily="18"/>
                          <a:cs typeface="Times New Roman"/>
                        </a:rPr>
                        <a:t>Annual ancillary market revenue</a:t>
                      </a:r>
                      <a:endParaRPr lang="en-US" sz="800" b="1">
                        <a:solidFill>
                          <a:srgbClr val="082A75"/>
                        </a:solidFill>
                        <a:latin typeface="Montserrat"/>
                        <a:ea typeface="MS Mincho" pitchFamily="49"/>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a:solidFill>
                            <a:srgbClr val="020F1E"/>
                          </a:solidFill>
                          <a:latin typeface="Montserrat"/>
                          <a:ea typeface="Times New Roman" pitchFamily="18"/>
                          <a:cs typeface="Times New Roman"/>
                        </a:rPr>
                        <a:t>-</a:t>
                      </a:r>
                      <a:endParaRPr lang="en-US" sz="800" b="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dirty="0">
                          <a:solidFill>
                            <a:srgbClr val="020F1E"/>
                          </a:solidFill>
                          <a:latin typeface="Montserrat"/>
                          <a:ea typeface="Times New Roman" pitchFamily="18"/>
                          <a:cs typeface="Times New Roman"/>
                        </a:rPr>
                        <a:t>€7780.0</a:t>
                      </a:r>
                      <a:endParaRPr lang="en-US" sz="800" b="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rtl="0" fontAlgn="auto" hangingPunct="1">
                        <a:lnSpc>
                          <a:spcPct val="115000"/>
                        </a:lnSpc>
                        <a:spcBef>
                          <a:spcPts val="0"/>
                        </a:spcBef>
                        <a:spcAft>
                          <a:spcPts val="0"/>
                        </a:spcAft>
                        <a:buNone/>
                      </a:pPr>
                      <a:r>
                        <a:rPr lang="en-US" sz="800" b="0" dirty="0">
                          <a:solidFill>
                            <a:srgbClr val="020F1E"/>
                          </a:solidFill>
                          <a:latin typeface="Montserrat"/>
                          <a:ea typeface="Times New Roman" pitchFamily="18"/>
                          <a:cs typeface="Times New Roman"/>
                        </a:rPr>
                        <a:t>€6703.0</a:t>
                      </a:r>
                      <a:endParaRPr lang="en-US" sz="800" b="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a:solidFill>
                            <a:srgbClr val="020F1E"/>
                          </a:solidFill>
                          <a:latin typeface="Montserrat"/>
                          <a:ea typeface="Times New Roman" pitchFamily="18"/>
                          <a:cs typeface="Times New Roman"/>
                        </a:rPr>
                        <a:t>-</a:t>
                      </a:r>
                      <a:endParaRPr lang="en-US" sz="800" b="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dirty="0">
                          <a:solidFill>
                            <a:srgbClr val="020F1E"/>
                          </a:solidFill>
                          <a:latin typeface="Montserrat"/>
                          <a:ea typeface="Times New Roman" pitchFamily="18"/>
                          <a:cs typeface="Times New Roman"/>
                        </a:rPr>
                        <a:t>€4284.0</a:t>
                      </a:r>
                      <a:endParaRPr lang="en-US" sz="800" b="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rtl="0" fontAlgn="auto" hangingPunct="1">
                        <a:lnSpc>
                          <a:spcPct val="115000"/>
                        </a:lnSpc>
                        <a:spcBef>
                          <a:spcPts val="0"/>
                        </a:spcBef>
                        <a:spcAft>
                          <a:spcPts val="0"/>
                        </a:spcAft>
                        <a:buNone/>
                      </a:pPr>
                      <a:r>
                        <a:rPr lang="en-US" sz="800" b="0" dirty="0">
                          <a:solidFill>
                            <a:srgbClr val="020F1E"/>
                          </a:solidFill>
                          <a:latin typeface="Montserrat"/>
                          <a:ea typeface="Times New Roman" pitchFamily="18"/>
                          <a:cs typeface="Times New Roman"/>
                        </a:rPr>
                        <a:t>€4418.0</a:t>
                      </a:r>
                      <a:endParaRPr lang="en-US" sz="800" b="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542142920"/>
                  </a:ext>
                </a:extLst>
              </a:tr>
              <a:tr h="239691">
                <a:tc>
                  <a:txBody>
                    <a:bodyPr/>
                    <a:lstStyle/>
                    <a:p>
                      <a:pPr lvl="0" algn="l">
                        <a:lnSpc>
                          <a:spcPct val="115000"/>
                        </a:lnSpc>
                        <a:buNone/>
                      </a:pPr>
                      <a:r>
                        <a:rPr lang="en-US" sz="800" b="1">
                          <a:solidFill>
                            <a:srgbClr val="004445"/>
                          </a:solidFill>
                          <a:latin typeface="Montserrat"/>
                          <a:ea typeface="MS Mincho"/>
                          <a:cs typeface="Times New Roman"/>
                        </a:rPr>
                        <a:t>Grid fees saved</a:t>
                      </a:r>
                      <a:endParaRPr lang="en-US" sz="800" b="1">
                        <a:solidFill>
                          <a:srgbClr val="004445"/>
                        </a:solidFill>
                        <a:latin typeface="Montserrat"/>
                        <a:ea typeface="MS Mincho" pitchFamily="49"/>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a:solidFill>
                            <a:srgbClr val="020F1E"/>
                          </a:solidFill>
                          <a:latin typeface="Montserrat"/>
                          <a:ea typeface="Times New Roman" pitchFamily="18"/>
                          <a:cs typeface="Times New Roman"/>
                        </a:rPr>
                        <a:t>-</a:t>
                      </a:r>
                      <a:endParaRPr lang="en-US" sz="800" b="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dirty="0">
                          <a:solidFill>
                            <a:srgbClr val="020F1E"/>
                          </a:solidFill>
                          <a:latin typeface="Montserrat"/>
                          <a:ea typeface="Times New Roman" pitchFamily="18"/>
                          <a:cs typeface="Times New Roman"/>
                        </a:rPr>
                        <a:t>€1012.0</a:t>
                      </a:r>
                      <a:endParaRPr lang="en-US" sz="800" b="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dirty="0">
                          <a:solidFill>
                            <a:srgbClr val="020F1E"/>
                          </a:solidFill>
                          <a:latin typeface="Montserrat"/>
                          <a:ea typeface="Times New Roman" pitchFamily="18"/>
                          <a:cs typeface="Times New Roman"/>
                        </a:rPr>
                        <a:t>€1005.0</a:t>
                      </a:r>
                      <a:endParaRPr lang="en-US" sz="800" b="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a:solidFill>
                            <a:srgbClr val="020F1E"/>
                          </a:solidFill>
                          <a:latin typeface="Montserrat"/>
                          <a:ea typeface="Times New Roman" pitchFamily="18"/>
                          <a:cs typeface="Times New Roman"/>
                        </a:rPr>
                        <a:t>-</a:t>
                      </a:r>
                      <a:endParaRPr lang="en-US" sz="800" b="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dirty="0">
                          <a:solidFill>
                            <a:srgbClr val="020F1E"/>
                          </a:solidFill>
                          <a:latin typeface="Montserrat"/>
                          <a:ea typeface="Times New Roman" pitchFamily="18"/>
                          <a:cs typeface="Times New Roman"/>
                        </a:rPr>
                        <a:t>€950.0</a:t>
                      </a:r>
                      <a:endParaRPr lang="en-US" sz="800" b="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dirty="0">
                          <a:solidFill>
                            <a:srgbClr val="020F1E"/>
                          </a:solidFill>
                          <a:latin typeface="Montserrat"/>
                          <a:ea typeface="Times New Roman" pitchFamily="18"/>
                          <a:cs typeface="Times New Roman"/>
                        </a:rPr>
                        <a:t>€1023.0</a:t>
                      </a:r>
                      <a:endParaRPr lang="en-US" sz="800" b="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557962978"/>
                  </a:ext>
                </a:extLst>
              </a:tr>
              <a:tr h="581037">
                <a:tc>
                  <a:txBody>
                    <a:bodyPr/>
                    <a:lstStyle/>
                    <a:p>
                      <a:pPr lvl="0" algn="l">
                        <a:lnSpc>
                          <a:spcPct val="115000"/>
                        </a:lnSpc>
                        <a:buNone/>
                      </a:pPr>
                      <a:r>
                        <a:rPr lang="en-GB" sz="800" b="1">
                          <a:solidFill>
                            <a:srgbClr val="004445"/>
                          </a:solidFill>
                          <a:latin typeface="Montserrat"/>
                          <a:ea typeface="Times New Roman" pitchFamily="18"/>
                          <a:cs typeface="Times New Roman"/>
                        </a:rPr>
                        <a:t>Annual savings </a:t>
                      </a:r>
                      <a:r>
                        <a:rPr lang="en-GB" sz="800" b="0">
                          <a:solidFill>
                            <a:srgbClr val="004445"/>
                          </a:solidFill>
                          <a:latin typeface="Montserrat"/>
                          <a:ea typeface="Times New Roman" pitchFamily="18"/>
                          <a:cs typeface="Times New Roman"/>
                        </a:rPr>
                        <a:t>from the Battery (B) &amp; PV</a:t>
                      </a:r>
                      <a:endParaRPr lang="en-GB" sz="800" b="1">
                        <a:solidFill>
                          <a:srgbClr val="082A75"/>
                        </a:solidFill>
                        <a:latin typeface="Montserrat"/>
                        <a:ea typeface="MS Mincho" pitchFamily="49"/>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C1D9CB"/>
                    </a:solidFill>
                  </a:tcPr>
                </a:tc>
                <a:tc>
                  <a:txBody>
                    <a:bodyPr/>
                    <a:lstStyle/>
                    <a:p>
                      <a:pPr lvl="0" algn="ctr">
                        <a:lnSpc>
                          <a:spcPct val="115000"/>
                        </a:lnSpc>
                        <a:buNone/>
                      </a:pPr>
                      <a:r>
                        <a:rPr lang="en-US" sz="800" b="0" dirty="0">
                          <a:solidFill>
                            <a:srgbClr val="020F1E"/>
                          </a:solidFill>
                          <a:latin typeface="Montserrat"/>
                          <a:ea typeface="Times New Roman" pitchFamily="18"/>
                          <a:cs typeface="Times New Roman"/>
                        </a:rPr>
                        <a:t>-</a:t>
                      </a:r>
                    </a:p>
                    <a:p>
                      <a:pPr marL="0" marR="0" lvl="0" indent="0" algn="ctr" rtl="0" fontAlgn="auto" hangingPunct="1">
                        <a:lnSpc>
                          <a:spcPct val="115000"/>
                        </a:lnSpc>
                        <a:spcBef>
                          <a:spcPts val="0"/>
                        </a:spcBef>
                        <a:spcAft>
                          <a:spcPts val="0"/>
                        </a:spcAft>
                        <a:buNone/>
                      </a:pPr>
                      <a:r>
                        <a:rPr lang="en-US" sz="800" b="0" dirty="0">
                          <a:solidFill>
                            <a:srgbClr val="020F1E"/>
                          </a:solidFill>
                          <a:latin typeface="Montserrat"/>
                          <a:ea typeface="Times New Roman" pitchFamily="18"/>
                          <a:cs typeface="Times New Roman"/>
                        </a:rPr>
                        <a:t>PV: €2112.0</a:t>
                      </a:r>
                      <a:endParaRPr lang="en-US" sz="800" b="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C1D9CB"/>
                    </a:solidFill>
                  </a:tcPr>
                </a:tc>
                <a:tc>
                  <a:txBody>
                    <a:bodyPr/>
                    <a:lstStyle/>
                    <a:p>
                      <a:pPr lvl="0" algn="ctr">
                        <a:lnSpc>
                          <a:spcPct val="115000"/>
                        </a:lnSpc>
                        <a:buNone/>
                      </a:pPr>
                      <a:r>
                        <a:rPr lang="en-US" sz="800" b="0" dirty="0">
                          <a:solidFill>
                            <a:srgbClr val="020F1E"/>
                          </a:solidFill>
                          <a:latin typeface="Montserrat"/>
                          <a:ea typeface="Times New Roman" pitchFamily="18"/>
                          <a:cs typeface="Times New Roman"/>
                        </a:rPr>
                        <a:t>B: €9216.0</a:t>
                      </a:r>
                      <a:endParaRPr lang="en-US" sz="800" b="0" dirty="0">
                        <a:solidFill>
                          <a:srgbClr val="020F1E"/>
                        </a:solidFill>
                        <a:latin typeface="Montserrat"/>
                        <a:ea typeface="MS Mincho"/>
                        <a:cs typeface="Times New Roman"/>
                      </a:endParaRPr>
                    </a:p>
                    <a:p>
                      <a:pPr marL="0" marR="0" lvl="0" indent="0" algn="ctr" rtl="0" fontAlgn="auto" hangingPunct="1">
                        <a:lnSpc>
                          <a:spcPct val="115000"/>
                        </a:lnSpc>
                        <a:spcBef>
                          <a:spcPts val="0"/>
                        </a:spcBef>
                        <a:spcAft>
                          <a:spcPts val="0"/>
                        </a:spcAft>
                        <a:buNone/>
                      </a:pPr>
                      <a:r>
                        <a:rPr lang="en-US" sz="800" b="0" dirty="0">
                          <a:solidFill>
                            <a:srgbClr val="020F1E"/>
                          </a:solidFill>
                          <a:latin typeface="Montserrat"/>
                          <a:ea typeface="Times New Roman" pitchFamily="18"/>
                          <a:cs typeface="Times New Roman"/>
                        </a:rPr>
                        <a:t>PV: €2112.0</a:t>
                      </a:r>
                      <a:endParaRPr lang="en-US" sz="800" b="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C1D9CB"/>
                    </a:solidFill>
                  </a:tcPr>
                </a:tc>
                <a:tc>
                  <a:txBody>
                    <a:bodyPr/>
                    <a:lstStyle/>
                    <a:p>
                      <a:pPr lvl="0" algn="ctr">
                        <a:lnSpc>
                          <a:spcPct val="115000"/>
                        </a:lnSpc>
                        <a:buNone/>
                      </a:pPr>
                      <a:r>
                        <a:rPr lang="en-US" sz="800" b="0" dirty="0">
                          <a:solidFill>
                            <a:srgbClr val="020F1E"/>
                          </a:solidFill>
                          <a:latin typeface="Montserrat"/>
                          <a:ea typeface="Times New Roman" pitchFamily="18"/>
                          <a:cs typeface="Times New Roman"/>
                        </a:rPr>
                        <a:t>B: €7814.0</a:t>
                      </a:r>
                      <a:endParaRPr lang="en-US" sz="800" b="0" dirty="0">
                        <a:solidFill>
                          <a:srgbClr val="020F1E"/>
                        </a:solidFill>
                        <a:latin typeface="Montserrat"/>
                        <a:ea typeface="MS Mincho"/>
                        <a:cs typeface="Times New Roman"/>
                      </a:endParaRPr>
                    </a:p>
                    <a:p>
                      <a:pPr lvl="0" algn="ctr">
                        <a:lnSpc>
                          <a:spcPct val="114999"/>
                        </a:lnSpc>
                        <a:buNone/>
                      </a:pPr>
                      <a:r>
                        <a:rPr lang="en-US" sz="800" b="0" dirty="0">
                          <a:solidFill>
                            <a:srgbClr val="020F1E"/>
                          </a:solidFill>
                          <a:latin typeface="Montserrat"/>
                          <a:ea typeface="Times New Roman" pitchFamily="18"/>
                          <a:cs typeface="Times New Roman"/>
                        </a:rPr>
                        <a:t>PV: €2112.0</a:t>
                      </a:r>
                      <a:endParaRPr lang="en-US" sz="800" b="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C1D9CB"/>
                    </a:solidFill>
                  </a:tcPr>
                </a:tc>
                <a:tc>
                  <a:txBody>
                    <a:bodyPr/>
                    <a:lstStyle/>
                    <a:p>
                      <a:pPr lvl="0" algn="ctr">
                        <a:lnSpc>
                          <a:spcPct val="115000"/>
                        </a:lnSpc>
                        <a:buNone/>
                      </a:pPr>
                      <a:r>
                        <a:rPr lang="en-US" sz="800" b="0" dirty="0">
                          <a:solidFill>
                            <a:srgbClr val="020F1E"/>
                          </a:solidFill>
                          <a:latin typeface="Montserrat"/>
                          <a:ea typeface="Times New Roman" pitchFamily="18"/>
                          <a:cs typeface="Times New Roman"/>
                        </a:rPr>
                        <a:t>-</a:t>
                      </a:r>
                    </a:p>
                    <a:p>
                      <a:pPr marL="0" marR="0" lvl="0" indent="0" algn="ctr" rtl="0" fontAlgn="auto" hangingPunct="1">
                        <a:lnSpc>
                          <a:spcPct val="115000"/>
                        </a:lnSpc>
                        <a:spcBef>
                          <a:spcPts val="0"/>
                        </a:spcBef>
                        <a:spcAft>
                          <a:spcPts val="0"/>
                        </a:spcAft>
                        <a:buNone/>
                      </a:pPr>
                      <a:r>
                        <a:rPr lang="en-US" sz="800" b="0" dirty="0">
                          <a:solidFill>
                            <a:srgbClr val="020F1E"/>
                          </a:solidFill>
                          <a:latin typeface="Montserrat"/>
                          <a:ea typeface="Times New Roman" pitchFamily="18"/>
                          <a:cs typeface="Times New Roman"/>
                        </a:rPr>
                        <a:t>PV: €3300.0</a:t>
                      </a:r>
                      <a:endParaRPr lang="en-US" sz="800" b="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9AC5CE"/>
                    </a:solidFill>
                  </a:tcPr>
                </a:tc>
                <a:tc>
                  <a:txBody>
                    <a:bodyPr/>
                    <a:lstStyle/>
                    <a:p>
                      <a:pPr lvl="0" algn="ctr">
                        <a:lnSpc>
                          <a:spcPct val="115000"/>
                        </a:lnSpc>
                        <a:buNone/>
                      </a:pPr>
                      <a:r>
                        <a:rPr lang="en-US" sz="800" b="0" dirty="0">
                          <a:solidFill>
                            <a:srgbClr val="020F1E"/>
                          </a:solidFill>
                          <a:latin typeface="Montserrat"/>
                          <a:ea typeface="Times New Roman" pitchFamily="18"/>
                          <a:cs typeface="Times New Roman"/>
                        </a:rPr>
                        <a:t>B: €7231.0</a:t>
                      </a:r>
                      <a:endParaRPr lang="en-US" sz="800" b="0" dirty="0">
                        <a:solidFill>
                          <a:srgbClr val="020F1E"/>
                        </a:solidFill>
                        <a:latin typeface="Montserrat"/>
                        <a:ea typeface="MS Mincho"/>
                        <a:cs typeface="Times New Roman"/>
                      </a:endParaRPr>
                    </a:p>
                    <a:p>
                      <a:pPr marL="0" marR="0" lvl="0" indent="0" algn="ctr" rtl="0" fontAlgn="auto" hangingPunct="1">
                        <a:lnSpc>
                          <a:spcPct val="115000"/>
                        </a:lnSpc>
                        <a:spcBef>
                          <a:spcPts val="0"/>
                        </a:spcBef>
                        <a:spcAft>
                          <a:spcPts val="0"/>
                        </a:spcAft>
                        <a:buNone/>
                      </a:pPr>
                      <a:r>
                        <a:rPr lang="en-US" sz="800" b="0" dirty="0">
                          <a:solidFill>
                            <a:srgbClr val="020F1E"/>
                          </a:solidFill>
                          <a:latin typeface="Montserrat"/>
                          <a:ea typeface="Times New Roman" pitchFamily="18"/>
                          <a:cs typeface="Times New Roman"/>
                        </a:rPr>
                        <a:t>PV: €3300.0</a:t>
                      </a:r>
                      <a:endParaRPr lang="en-US" sz="800" b="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9AC5CE"/>
                    </a:solidFill>
                  </a:tcPr>
                </a:tc>
                <a:tc>
                  <a:txBody>
                    <a:bodyPr/>
                    <a:lstStyle/>
                    <a:p>
                      <a:pPr lvl="0" algn="ctr">
                        <a:lnSpc>
                          <a:spcPct val="115000"/>
                        </a:lnSpc>
                        <a:buNone/>
                      </a:pPr>
                      <a:r>
                        <a:rPr lang="en-US" sz="800" b="0" dirty="0">
                          <a:solidFill>
                            <a:srgbClr val="020F1E"/>
                          </a:solidFill>
                          <a:latin typeface="Montserrat"/>
                          <a:ea typeface="Times New Roman" pitchFamily="18"/>
                          <a:cs typeface="Times New Roman"/>
                        </a:rPr>
                        <a:t>B: €5997.0</a:t>
                      </a:r>
                      <a:endParaRPr lang="en-US" sz="800" b="0" dirty="0">
                        <a:solidFill>
                          <a:srgbClr val="020F1E"/>
                        </a:solidFill>
                        <a:latin typeface="Montserrat"/>
                        <a:ea typeface="MS Mincho"/>
                        <a:cs typeface="Times New Roman"/>
                      </a:endParaRPr>
                    </a:p>
                    <a:p>
                      <a:pPr lvl="0" algn="ctr">
                        <a:lnSpc>
                          <a:spcPct val="114999"/>
                        </a:lnSpc>
                        <a:buNone/>
                      </a:pPr>
                      <a:r>
                        <a:rPr lang="en-US" sz="800" b="0" dirty="0">
                          <a:solidFill>
                            <a:srgbClr val="020F1E"/>
                          </a:solidFill>
                          <a:latin typeface="Montserrat"/>
                          <a:ea typeface="Times New Roman" pitchFamily="18"/>
                          <a:cs typeface="Times New Roman"/>
                        </a:rPr>
                        <a:t>PV: €3300.0</a:t>
                      </a:r>
                      <a:endParaRPr lang="en-US" sz="800" b="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9AC5CE"/>
                    </a:solidFill>
                  </a:tcPr>
                </a:tc>
                <a:extLst>
                  <a:ext uri="{0D108BD9-81ED-4DB2-BD59-A6C34878D82A}">
                    <a16:rowId xmlns:a16="http://schemas.microsoft.com/office/drawing/2014/main" val="4176948309"/>
                  </a:ext>
                </a:extLst>
              </a:tr>
              <a:tr h="382685">
                <a:tc>
                  <a:txBody>
                    <a:bodyPr/>
                    <a:lstStyle/>
                    <a:p>
                      <a:pPr lvl="0" algn="l">
                        <a:lnSpc>
                          <a:spcPct val="115000"/>
                        </a:lnSpc>
                        <a:buNone/>
                      </a:pPr>
                      <a:r>
                        <a:rPr lang="en-US" sz="800" b="1">
                          <a:solidFill>
                            <a:srgbClr val="004445"/>
                          </a:solidFill>
                          <a:latin typeface="Montserrat"/>
                          <a:ea typeface="Times New Roman" pitchFamily="18"/>
                          <a:cs typeface="Times New Roman"/>
                        </a:rPr>
                        <a:t>Payback time </a:t>
                      </a:r>
                      <a:endParaRPr lang="en-US" sz="800" b="1">
                        <a:solidFill>
                          <a:srgbClr val="082A75"/>
                        </a:solidFill>
                        <a:latin typeface="Montserrat"/>
                        <a:ea typeface="MS Mincho" pitchFamily="49"/>
                        <a:cs typeface="Times New Roman"/>
                      </a:endParaRPr>
                    </a:p>
                    <a:p>
                      <a:pPr lvl="0" algn="l">
                        <a:lnSpc>
                          <a:spcPct val="115000"/>
                        </a:lnSpc>
                        <a:buNone/>
                      </a:pPr>
                      <a:r>
                        <a:rPr lang="en-US" sz="800" b="0">
                          <a:solidFill>
                            <a:srgbClr val="004445"/>
                          </a:solidFill>
                          <a:latin typeface="Montserrat"/>
                          <a:ea typeface="Times New Roman" pitchFamily="18"/>
                          <a:cs typeface="Times New Roman"/>
                        </a:rPr>
                        <a:t>Battery </a:t>
                      </a:r>
                      <a:endParaRPr lang="en-US" sz="800" b="1">
                        <a:solidFill>
                          <a:srgbClr val="082A75"/>
                        </a:solidFill>
                        <a:latin typeface="Montserrat"/>
                        <a:ea typeface="MS Mincho" pitchFamily="49"/>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C1D9CB"/>
                    </a:solidFill>
                  </a:tcPr>
                </a:tc>
                <a:tc>
                  <a:txBody>
                    <a:bodyPr/>
                    <a:lstStyle/>
                    <a:p>
                      <a:pPr lvl="0" algn="ctr">
                        <a:lnSpc>
                          <a:spcPct val="115000"/>
                        </a:lnSpc>
                        <a:buNone/>
                      </a:pPr>
                      <a:r>
                        <a:rPr lang="en-US" sz="800" b="0" dirty="0">
                          <a:solidFill>
                            <a:srgbClr val="020F1E"/>
                          </a:solidFill>
                          <a:latin typeface="Montserrat"/>
                          <a:ea typeface="Times New Roman" pitchFamily="18"/>
                          <a:cs typeface="Times New Roman"/>
                        </a:rPr>
                        <a:t>-</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C1D9CB"/>
                    </a:solidFill>
                  </a:tcPr>
                </a:tc>
                <a:tc>
                  <a:txBody>
                    <a:bodyPr/>
                    <a:lstStyle/>
                    <a:p>
                      <a:pPr lvl="0" algn="ctr">
                        <a:lnSpc>
                          <a:spcPct val="115000"/>
                        </a:lnSpc>
                        <a:buNone/>
                      </a:pPr>
                      <a:r>
                        <a:rPr lang="en-US" sz="800" b="0" dirty="0">
                          <a:solidFill>
                            <a:srgbClr val="020F1E"/>
                          </a:solidFill>
                          <a:latin typeface="Montserrat"/>
                          <a:ea typeface="MS Mincho"/>
                          <a:cs typeface="Times New Roman"/>
                        </a:rPr>
                        <a:t>6.5 years</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C1D9CB"/>
                    </a:solidFill>
                  </a:tcPr>
                </a:tc>
                <a:tc>
                  <a:txBody>
                    <a:bodyPr/>
                    <a:lstStyle/>
                    <a:p>
                      <a:pPr lvl="0" algn="ctr">
                        <a:lnSpc>
                          <a:spcPct val="115000"/>
                        </a:lnSpc>
                        <a:buNone/>
                      </a:pPr>
                      <a:r>
                        <a:rPr lang="en-US" sz="800" b="0" dirty="0">
                          <a:solidFill>
                            <a:srgbClr val="020F1E"/>
                          </a:solidFill>
                          <a:latin typeface="Montserrat"/>
                          <a:ea typeface="MS Mincho"/>
                          <a:cs typeface="Times New Roman"/>
                        </a:rPr>
                        <a:t>7.7  years</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C1D9CB"/>
                    </a:solidFill>
                  </a:tcPr>
                </a:tc>
                <a:tc>
                  <a:txBody>
                    <a:bodyPr/>
                    <a:lstStyle/>
                    <a:p>
                      <a:pPr lvl="0" algn="ctr">
                        <a:lnSpc>
                          <a:spcPct val="115000"/>
                        </a:lnSpc>
                        <a:buNone/>
                      </a:pPr>
                      <a:r>
                        <a:rPr lang="en-US" sz="800" b="0" dirty="0">
                          <a:solidFill>
                            <a:srgbClr val="020F1E"/>
                          </a:solidFill>
                          <a:latin typeface="Montserrat"/>
                          <a:ea typeface="Times New Roman" pitchFamily="18"/>
                          <a:cs typeface="Times New Roman"/>
                        </a:rPr>
                        <a:t>-</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9AC5CE"/>
                    </a:solidFill>
                  </a:tcPr>
                </a:tc>
                <a:tc>
                  <a:txBody>
                    <a:bodyPr/>
                    <a:lstStyle/>
                    <a:p>
                      <a:pPr lvl="0" algn="ctr">
                        <a:lnSpc>
                          <a:spcPct val="115000"/>
                        </a:lnSpc>
                        <a:buNone/>
                      </a:pPr>
                      <a:r>
                        <a:rPr lang="en-US" sz="800" b="0" dirty="0">
                          <a:solidFill>
                            <a:srgbClr val="020F1E"/>
                          </a:solidFill>
                          <a:latin typeface="Montserrat"/>
                          <a:ea typeface="MS Mincho"/>
                          <a:cs typeface="Times New Roman"/>
                        </a:rPr>
                        <a:t>8.3 years</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9AC5CE"/>
                    </a:solidFill>
                  </a:tcPr>
                </a:tc>
                <a:tc>
                  <a:txBody>
                    <a:bodyPr/>
                    <a:lstStyle/>
                    <a:p>
                      <a:pPr lvl="0" algn="ctr">
                        <a:lnSpc>
                          <a:spcPct val="115000"/>
                        </a:lnSpc>
                        <a:buNone/>
                      </a:pPr>
                      <a:r>
                        <a:rPr lang="en-US" sz="800" b="0" dirty="0">
                          <a:solidFill>
                            <a:srgbClr val="020F1E"/>
                          </a:solidFill>
                          <a:latin typeface="Montserrat"/>
                          <a:ea typeface="MS Mincho"/>
                          <a:cs typeface="Times New Roman"/>
                        </a:rPr>
                        <a:t>10.0  years</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9AC5CE"/>
                    </a:solidFill>
                  </a:tcPr>
                </a:tc>
                <a:extLst>
                  <a:ext uri="{0D108BD9-81ED-4DB2-BD59-A6C34878D82A}">
                    <a16:rowId xmlns:a16="http://schemas.microsoft.com/office/drawing/2014/main" val="2891659483"/>
                  </a:ext>
                </a:extLst>
              </a:tr>
              <a:tr h="382685">
                <a:tc>
                  <a:txBody>
                    <a:bodyPr/>
                    <a:lstStyle/>
                    <a:p>
                      <a:pPr marL="0" marR="0" lvl="0" indent="0" algn="l" rtl="0">
                        <a:lnSpc>
                          <a:spcPct val="115000"/>
                        </a:lnSpc>
                        <a:spcBef>
                          <a:spcPts val="0"/>
                        </a:spcBef>
                        <a:spcAft>
                          <a:spcPts val="0"/>
                        </a:spcAft>
                        <a:buNone/>
                      </a:pPr>
                      <a:r>
                        <a:rPr lang="en-US" sz="800" b="1">
                          <a:solidFill>
                            <a:srgbClr val="004445"/>
                          </a:solidFill>
                          <a:latin typeface="Montserrat"/>
                          <a:ea typeface="Times New Roman" pitchFamily="18"/>
                          <a:cs typeface="Times New Roman"/>
                        </a:rPr>
                        <a:t>Self-sufficiency </a:t>
                      </a:r>
                      <a:endParaRPr lang="en-US" sz="600" b="0" i="1">
                        <a:solidFill>
                          <a:srgbClr val="004445"/>
                        </a:solidFill>
                        <a:latin typeface="Montserrat"/>
                        <a:ea typeface="Times New Roman" pitchFamily="18"/>
                        <a:cs typeface="Times New Roman"/>
                      </a:endParaRPr>
                    </a:p>
                    <a:p>
                      <a:pPr marL="0" marR="0" lvl="0" indent="0" algn="l" rtl="0">
                        <a:lnSpc>
                          <a:spcPct val="115000"/>
                        </a:lnSpc>
                        <a:spcBef>
                          <a:spcPts val="0"/>
                        </a:spcBef>
                        <a:spcAft>
                          <a:spcPts val="0"/>
                        </a:spcAft>
                        <a:buNone/>
                      </a:pPr>
                      <a:r>
                        <a:rPr lang="en-US" sz="600" b="0" i="1">
                          <a:solidFill>
                            <a:srgbClr val="004445"/>
                          </a:solidFill>
                          <a:latin typeface="Montserrat"/>
                          <a:ea typeface="Times New Roman" pitchFamily="18"/>
                          <a:cs typeface="Times New Roman"/>
                        </a:rPr>
                        <a:t>% of on-site electricity demand met by PV</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i="0" dirty="0">
                          <a:solidFill>
                            <a:srgbClr val="020F1E"/>
                          </a:solidFill>
                          <a:latin typeface="Montserrat"/>
                          <a:ea typeface="MS Mincho"/>
                          <a:cs typeface="Times New Roman"/>
                        </a:rPr>
                        <a:t>59.2%</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rtl="0" fontAlgn="auto" hangingPunct="1">
                        <a:lnSpc>
                          <a:spcPct val="115000"/>
                        </a:lnSpc>
                        <a:spcBef>
                          <a:spcPts val="0"/>
                        </a:spcBef>
                        <a:spcAft>
                          <a:spcPts val="0"/>
                        </a:spcAft>
                        <a:buNone/>
                      </a:pPr>
                      <a:r>
                        <a:rPr lang="en-US" sz="800" b="0" i="0" u="none" strike="noStrike" cap="none" spc="0" baseline="0" dirty="0">
                          <a:solidFill>
                            <a:srgbClr val="020F1E"/>
                          </a:solidFill>
                          <a:uFillTx/>
                          <a:latin typeface="Montserrat"/>
                          <a:ea typeface="MS Mincho"/>
                          <a:cs typeface="Times New Roman"/>
                        </a:rPr>
                        <a:t>59.5%</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rtl="0" fontAlgn="auto" hangingPunct="1">
                        <a:lnSpc>
                          <a:spcPct val="115000"/>
                        </a:lnSpc>
                        <a:spcBef>
                          <a:spcPts val="0"/>
                        </a:spcBef>
                        <a:spcAft>
                          <a:spcPts val="0"/>
                        </a:spcAft>
                        <a:buNone/>
                      </a:pPr>
                      <a:r>
                        <a:rPr lang="en-US" sz="800" b="0" i="0" u="none" strike="noStrike" cap="none" spc="0" baseline="0" dirty="0">
                          <a:solidFill>
                            <a:srgbClr val="020F1E"/>
                          </a:solidFill>
                          <a:uFillTx/>
                          <a:latin typeface="Montserrat"/>
                          <a:ea typeface="MS Mincho"/>
                          <a:cs typeface="Times New Roman"/>
                        </a:rPr>
                        <a:t>75.7%</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i="0" dirty="0">
                          <a:solidFill>
                            <a:srgbClr val="020F1E"/>
                          </a:solidFill>
                          <a:latin typeface="Montserrat"/>
                          <a:ea typeface="MS Mincho"/>
                          <a:cs typeface="Times New Roman"/>
                        </a:rPr>
                        <a:t>59.3%</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rtl="0" fontAlgn="auto" hangingPunct="1">
                        <a:lnSpc>
                          <a:spcPct val="115000"/>
                        </a:lnSpc>
                        <a:spcBef>
                          <a:spcPts val="0"/>
                        </a:spcBef>
                        <a:spcAft>
                          <a:spcPts val="0"/>
                        </a:spcAft>
                        <a:buNone/>
                      </a:pPr>
                      <a:r>
                        <a:rPr lang="en-US" sz="800" b="0" i="0" u="none" strike="noStrike" cap="none" spc="0" baseline="0" dirty="0">
                          <a:solidFill>
                            <a:srgbClr val="020F1E"/>
                          </a:solidFill>
                          <a:uFillTx/>
                          <a:latin typeface="Montserrat"/>
                          <a:ea typeface="MS Mincho"/>
                          <a:cs typeface="Times New Roman"/>
                        </a:rPr>
                        <a:t>63.8%</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rtl="0" fontAlgn="auto" hangingPunct="1">
                        <a:lnSpc>
                          <a:spcPct val="115000"/>
                        </a:lnSpc>
                        <a:spcBef>
                          <a:spcPts val="0"/>
                        </a:spcBef>
                        <a:spcAft>
                          <a:spcPts val="0"/>
                        </a:spcAft>
                        <a:buNone/>
                      </a:pPr>
                      <a:r>
                        <a:rPr lang="en-US" sz="800" b="0" i="0" u="none" strike="noStrike" cap="none" spc="0" baseline="0" dirty="0">
                          <a:solidFill>
                            <a:srgbClr val="020F1E"/>
                          </a:solidFill>
                          <a:uFillTx/>
                          <a:latin typeface="Montserrat"/>
                          <a:ea typeface="MS Mincho"/>
                          <a:cs typeface="Times New Roman"/>
                        </a:rPr>
                        <a:t>77.1%</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425548879"/>
                  </a:ext>
                </a:extLst>
              </a:tr>
              <a:tr h="382685">
                <a:tc>
                  <a:txBody>
                    <a:bodyPr/>
                    <a:lstStyle/>
                    <a:p>
                      <a:pPr marL="0" marR="0" lvl="0" indent="0" algn="l" defTabSz="914400" rtl="0">
                        <a:lnSpc>
                          <a:spcPct val="115000"/>
                        </a:lnSpc>
                        <a:spcBef>
                          <a:spcPts val="0"/>
                        </a:spcBef>
                        <a:spcAft>
                          <a:spcPts val="0"/>
                        </a:spcAft>
                        <a:buNone/>
                        <a:tabLst/>
                      </a:pPr>
                      <a:r>
                        <a:rPr lang="en-US" sz="800" b="1" i="0" u="none" strike="noStrike" cap="none" spc="0" baseline="0">
                          <a:solidFill>
                            <a:srgbClr val="004445"/>
                          </a:solidFill>
                          <a:uFillTx/>
                          <a:latin typeface="Montserrat"/>
                          <a:ea typeface="MS Mincho"/>
                          <a:cs typeface="Times New Roman"/>
                        </a:rPr>
                        <a:t>Equivalent Full Cycles </a:t>
                      </a:r>
                      <a:r>
                        <a:rPr lang="en-US" sz="800" b="0" i="0" u="none" strike="noStrike" cap="none" spc="0" baseline="0">
                          <a:solidFill>
                            <a:srgbClr val="004445"/>
                          </a:solidFill>
                          <a:uFillTx/>
                          <a:latin typeface="Montserrat"/>
                          <a:ea typeface="MS Mincho"/>
                          <a:cs typeface="Times New Roman"/>
                        </a:rPr>
                        <a:t>per year</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i="0" dirty="0">
                          <a:solidFill>
                            <a:srgbClr val="020F1E"/>
                          </a:solidFill>
                          <a:latin typeface="Montserrat"/>
                          <a:ea typeface="Times New Roman" pitchFamily="18"/>
                          <a:cs typeface="Times New Roman"/>
                        </a:rPr>
                        <a:t>-</a:t>
                      </a:r>
                      <a:endParaRPr lang="en-US" sz="800" b="0" i="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rtl="0" fontAlgn="auto" hangingPunct="1">
                        <a:lnSpc>
                          <a:spcPct val="115000"/>
                        </a:lnSpc>
                        <a:spcBef>
                          <a:spcPts val="0"/>
                        </a:spcBef>
                        <a:spcAft>
                          <a:spcPts val="0"/>
                        </a:spcAft>
                        <a:buNone/>
                      </a:pPr>
                      <a:r>
                        <a:rPr lang="en-US" sz="800" b="0" i="0" u="none" strike="noStrike" cap="none" spc="0" baseline="0" dirty="0">
                          <a:solidFill>
                            <a:srgbClr val="020F1E"/>
                          </a:solidFill>
                          <a:uFillTx/>
                          <a:latin typeface="Montserrat"/>
                          <a:ea typeface="MS Mincho"/>
                          <a:cs typeface="Times New Roman"/>
                        </a:rPr>
                        <a:t>60.6 cycles</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rtl="0" fontAlgn="auto" hangingPunct="1">
                        <a:lnSpc>
                          <a:spcPct val="115000"/>
                        </a:lnSpc>
                        <a:spcBef>
                          <a:spcPts val="0"/>
                        </a:spcBef>
                        <a:spcAft>
                          <a:spcPts val="0"/>
                        </a:spcAft>
                        <a:buNone/>
                      </a:pPr>
                      <a:r>
                        <a:rPr lang="en-US" sz="800" b="0" i="0" u="none" strike="noStrike" cap="none" spc="0" baseline="0" dirty="0">
                          <a:solidFill>
                            <a:srgbClr val="020F1E"/>
                          </a:solidFill>
                          <a:uFillTx/>
                          <a:latin typeface="Montserrat"/>
                          <a:ea typeface="MS Mincho"/>
                          <a:cs typeface="Times New Roman"/>
                        </a:rPr>
                        <a:t>100.4  cycles</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i="0" dirty="0">
                          <a:solidFill>
                            <a:srgbClr val="020F1E"/>
                          </a:solidFill>
                          <a:latin typeface="Montserrat"/>
                          <a:ea typeface="Times New Roman" pitchFamily="18"/>
                          <a:cs typeface="Times New Roman"/>
                        </a:rPr>
                        <a:t>-</a:t>
                      </a:r>
                      <a:endParaRPr lang="en-US" sz="800" b="0" i="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rtl="0" fontAlgn="auto" hangingPunct="1">
                        <a:lnSpc>
                          <a:spcPct val="115000"/>
                        </a:lnSpc>
                        <a:spcBef>
                          <a:spcPts val="0"/>
                        </a:spcBef>
                        <a:spcAft>
                          <a:spcPts val="0"/>
                        </a:spcAft>
                        <a:buNone/>
                      </a:pPr>
                      <a:r>
                        <a:rPr lang="en-US" sz="800" b="0" i="0" u="none" strike="noStrike" cap="none" spc="0" baseline="0" dirty="0">
                          <a:solidFill>
                            <a:srgbClr val="020F1E"/>
                          </a:solidFill>
                          <a:uFillTx/>
                          <a:latin typeface="Montserrat"/>
                          <a:ea typeface="MS Mincho"/>
                          <a:cs typeface="Times New Roman"/>
                        </a:rPr>
                        <a:t>161.3 cycles</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rtl="0" fontAlgn="auto" hangingPunct="1">
                        <a:lnSpc>
                          <a:spcPct val="115000"/>
                        </a:lnSpc>
                        <a:spcBef>
                          <a:spcPts val="0"/>
                        </a:spcBef>
                        <a:spcAft>
                          <a:spcPts val="0"/>
                        </a:spcAft>
                        <a:buNone/>
                      </a:pPr>
                      <a:r>
                        <a:rPr lang="en-US" sz="800" b="0" i="0" u="none" strike="noStrike" cap="none" spc="0" baseline="0" dirty="0">
                          <a:solidFill>
                            <a:srgbClr val="020F1E"/>
                          </a:solidFill>
                          <a:uFillTx/>
                          <a:latin typeface="Montserrat"/>
                          <a:ea typeface="MS Mincho"/>
                          <a:cs typeface="Times New Roman"/>
                        </a:rPr>
                        <a:t>97.7  cycles</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569933714"/>
                  </a:ext>
                </a:extLst>
              </a:tr>
              <a:tr h="382685">
                <a:tc>
                  <a:txBody>
                    <a:bodyPr/>
                    <a:lstStyle/>
                    <a:p>
                      <a:pPr marL="0" marR="0" lvl="0" indent="0" algn="l" defTabSz="914400" rtl="0">
                        <a:lnSpc>
                          <a:spcPct val="115000"/>
                        </a:lnSpc>
                        <a:spcBef>
                          <a:spcPts val="0"/>
                        </a:spcBef>
                        <a:spcAft>
                          <a:spcPts val="0"/>
                        </a:spcAft>
                        <a:buNone/>
                        <a:tabLst/>
                      </a:pPr>
                      <a:r>
                        <a:rPr lang="en-US" sz="800" b="1" i="0" u="none" strike="noStrike" cap="none" spc="0" baseline="0">
                          <a:solidFill>
                            <a:srgbClr val="004445"/>
                          </a:solidFill>
                          <a:uFillTx/>
                          <a:latin typeface="Montserrat"/>
                          <a:ea typeface="MS Mincho"/>
                          <a:cs typeface="Times New Roman"/>
                        </a:rPr>
                        <a:t>Time inside SoC </a:t>
                      </a:r>
                      <a:r>
                        <a:rPr lang="en-US" sz="800" b="0" i="0" u="none" strike="noStrike" cap="none" spc="0" baseline="0">
                          <a:solidFill>
                            <a:srgbClr val="004445"/>
                          </a:solidFill>
                          <a:uFillTx/>
                          <a:latin typeface="Montserrat"/>
                          <a:ea typeface="MS Mincho"/>
                          <a:cs typeface="Times New Roman"/>
                        </a:rPr>
                        <a:t>20%-80%</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i="0">
                          <a:solidFill>
                            <a:srgbClr val="020F1E"/>
                          </a:solidFill>
                          <a:latin typeface="Montserrat"/>
                          <a:ea typeface="Times New Roman" pitchFamily="18"/>
                          <a:cs typeface="Times New Roman"/>
                        </a:rPr>
                        <a:t>-</a:t>
                      </a:r>
                      <a:endParaRPr lang="en-US" sz="800" b="0" i="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i="0" u="none" strike="noStrike" cap="none" spc="0" baseline="0" dirty="0">
                          <a:solidFill>
                            <a:srgbClr val="020F1E"/>
                          </a:solidFill>
                          <a:uFillTx/>
                          <a:latin typeface="Montserrat"/>
                          <a:ea typeface="MS Mincho"/>
                          <a:cs typeface="Times New Roman"/>
                        </a:rPr>
                        <a:t>75.9%</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i="0" u="none" strike="noStrike" cap="none" spc="0" baseline="0" dirty="0">
                          <a:solidFill>
                            <a:srgbClr val="020F1E"/>
                          </a:solidFill>
                          <a:uFillTx/>
                          <a:latin typeface="Montserrat"/>
                          <a:ea typeface="MS Mincho"/>
                          <a:cs typeface="Times New Roman"/>
                        </a:rPr>
                        <a:t>79.0%</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i="0">
                          <a:solidFill>
                            <a:srgbClr val="020F1E"/>
                          </a:solidFill>
                          <a:latin typeface="Montserrat"/>
                          <a:ea typeface="Times New Roman" pitchFamily="18"/>
                          <a:cs typeface="Times New Roman"/>
                        </a:rPr>
                        <a:t>-</a:t>
                      </a:r>
                      <a:endParaRPr lang="en-US" sz="800" b="0" i="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i="0" u="none" strike="noStrike" cap="none" spc="0" baseline="0" dirty="0">
                          <a:solidFill>
                            <a:srgbClr val="020F1E"/>
                          </a:solidFill>
                          <a:uFillTx/>
                          <a:latin typeface="Montserrat"/>
                          <a:ea typeface="MS Mincho"/>
                          <a:cs typeface="Times New Roman"/>
                        </a:rPr>
                        <a:t>60.9%</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i="0" u="none" strike="noStrike" cap="none" spc="0" baseline="0" dirty="0">
                          <a:solidFill>
                            <a:srgbClr val="020F1E"/>
                          </a:solidFill>
                          <a:uFillTx/>
                          <a:latin typeface="Montserrat"/>
                          <a:ea typeface="MS Mincho"/>
                          <a:cs typeface="Times New Roman"/>
                        </a:rPr>
                        <a:t>77.4%</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990616278"/>
                  </a:ext>
                </a:extLst>
              </a:tr>
              <a:tr h="488353">
                <a:tc>
                  <a:txBody>
                    <a:bodyPr/>
                    <a:lstStyle/>
                    <a:p>
                      <a:pPr marL="0" marR="0" lvl="0" indent="0" algn="l" defTabSz="914400" rtl="0">
                        <a:lnSpc>
                          <a:spcPct val="115000"/>
                        </a:lnSpc>
                        <a:spcBef>
                          <a:spcPts val="0"/>
                        </a:spcBef>
                        <a:spcAft>
                          <a:spcPts val="0"/>
                        </a:spcAft>
                        <a:buNone/>
                        <a:tabLst/>
                      </a:pPr>
                      <a:r>
                        <a:rPr lang="en-US" sz="800" b="1" i="0" u="none" strike="noStrike" cap="none" spc="0" baseline="0">
                          <a:solidFill>
                            <a:srgbClr val="004445"/>
                          </a:solidFill>
                          <a:uFillTx/>
                          <a:latin typeface="Montserrat"/>
                          <a:ea typeface="MS Mincho"/>
                          <a:cs typeface="Times New Roman"/>
                        </a:rPr>
                        <a:t>Total MWh </a:t>
                      </a:r>
                      <a:r>
                        <a:rPr lang="en-US" sz="800" b="0" i="0" u="none" strike="noStrike" cap="none" spc="0" baseline="0">
                          <a:solidFill>
                            <a:srgbClr val="004445"/>
                          </a:solidFill>
                          <a:uFillTx/>
                          <a:latin typeface="Montserrat"/>
                          <a:ea typeface="MS Mincho"/>
                          <a:cs typeface="Times New Roman"/>
                        </a:rPr>
                        <a:t>charged /discharged </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i="0" dirty="0">
                          <a:solidFill>
                            <a:srgbClr val="020F1E"/>
                          </a:solidFill>
                          <a:latin typeface="Montserrat"/>
                          <a:ea typeface="Times New Roman" pitchFamily="18"/>
                          <a:cs typeface="Times New Roman"/>
                        </a:rPr>
                        <a:t>-</a:t>
                      </a:r>
                      <a:endParaRPr lang="en-US" sz="800" b="0" i="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i="0" u="none" strike="noStrike" cap="none" spc="0" baseline="0" dirty="0">
                          <a:solidFill>
                            <a:srgbClr val="020F1E"/>
                          </a:solidFill>
                          <a:uFillTx/>
                          <a:latin typeface="Montserrat"/>
                          <a:ea typeface="MS Mincho"/>
                          <a:cs typeface="Times New Roman"/>
                        </a:rPr>
                        <a:t>9.1 MWh</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rtl="0" fontAlgn="auto" hangingPunct="1">
                        <a:lnSpc>
                          <a:spcPct val="115000"/>
                        </a:lnSpc>
                        <a:spcBef>
                          <a:spcPts val="0"/>
                        </a:spcBef>
                        <a:spcAft>
                          <a:spcPts val="0"/>
                        </a:spcAft>
                        <a:buNone/>
                      </a:pPr>
                      <a:r>
                        <a:rPr lang="en-US" sz="800" b="0" i="0" u="none" strike="noStrike" cap="none" spc="0" baseline="0" dirty="0">
                          <a:solidFill>
                            <a:srgbClr val="020F1E"/>
                          </a:solidFill>
                          <a:uFillTx/>
                          <a:latin typeface="Montserrat"/>
                          <a:ea typeface="MS Mincho"/>
                          <a:cs typeface="Times New Roman"/>
                        </a:rPr>
                        <a:t>15.1  MWh</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i="0" dirty="0">
                          <a:solidFill>
                            <a:srgbClr val="020F1E"/>
                          </a:solidFill>
                          <a:latin typeface="Montserrat"/>
                          <a:ea typeface="Times New Roman" pitchFamily="18"/>
                          <a:cs typeface="Times New Roman"/>
                        </a:rPr>
                        <a:t>-</a:t>
                      </a:r>
                      <a:endParaRPr lang="en-US" sz="800" b="0" i="0" dirty="0">
                        <a:solidFill>
                          <a:srgbClr val="020F1E"/>
                        </a:solidFill>
                        <a:latin typeface="Montserrat"/>
                        <a:ea typeface="MS Mincho"/>
                        <a:cs typeface="Times New Roman"/>
                      </a:endParaRP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ctr">
                        <a:lnSpc>
                          <a:spcPct val="115000"/>
                        </a:lnSpc>
                        <a:buNone/>
                      </a:pPr>
                      <a:r>
                        <a:rPr lang="en-US" sz="800" b="0" i="0" u="none" strike="noStrike" cap="none" spc="0" baseline="0" dirty="0">
                          <a:solidFill>
                            <a:srgbClr val="020F1E"/>
                          </a:solidFill>
                          <a:uFillTx/>
                          <a:latin typeface="Montserrat"/>
                          <a:ea typeface="MS Mincho"/>
                          <a:cs typeface="Times New Roman"/>
                        </a:rPr>
                        <a:t>24.2 MWh</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rtl="0" fontAlgn="auto" hangingPunct="1">
                        <a:lnSpc>
                          <a:spcPct val="115000"/>
                        </a:lnSpc>
                        <a:spcBef>
                          <a:spcPts val="0"/>
                        </a:spcBef>
                        <a:spcAft>
                          <a:spcPts val="0"/>
                        </a:spcAft>
                        <a:buNone/>
                      </a:pPr>
                      <a:r>
                        <a:rPr lang="en-US" sz="800" b="0" i="0" u="none" strike="noStrike" cap="none" spc="0" baseline="0" dirty="0">
                          <a:solidFill>
                            <a:srgbClr val="020F1E"/>
                          </a:solidFill>
                          <a:uFillTx/>
                          <a:latin typeface="Montserrat"/>
                          <a:ea typeface="MS Mincho"/>
                          <a:cs typeface="Times New Roman"/>
                        </a:rPr>
                        <a:t>14.7  MWh</a:t>
                      </a:r>
                    </a:p>
                  </a:txBody>
                  <a:tcPr marL="31519" marR="31519"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123488351"/>
                  </a:ext>
                </a:extLst>
              </a:tr>
            </a:tbl>
          </a:graphicData>
        </a:graphic>
      </p:graphicFrame>
      <p:pic>
        <p:nvPicPr>
          <p:cNvPr id="6" name="Picture 5">
            <a:extLst>
              <a:ext uri="{FF2B5EF4-FFF2-40B4-BE49-F238E27FC236}">
                <a16:creationId xmlns:a16="http://schemas.microsoft.com/office/drawing/2014/main" id="{39AB9460-BCBB-DA8C-5E51-6830C68C557A}"/>
              </a:ext>
            </a:extLst>
          </p:cNvPr>
          <p:cNvPicPr>
            <a:picLocks noChangeAspect="1"/>
          </p:cNvPicPr>
          <p:nvPr/>
        </p:nvPicPr>
        <p:blipFill>
          <a:blip r:embed="rId3"/>
          <a:stretch>
            <a:fillRect/>
          </a:stretch>
        </p:blipFill>
        <p:spPr>
          <a:xfrm>
            <a:off x="5227451" y="460775"/>
            <a:ext cx="1070991" cy="340769"/>
          </a:xfrm>
          <a:prstGeom prst="rect">
            <a:avLst/>
          </a:prstGeom>
          <a:noFill/>
          <a:ln cap="flat">
            <a:noFill/>
          </a:ln>
        </p:spPr>
      </p:pic>
      <p:sp>
        <p:nvSpPr>
          <p:cNvPr id="8" name="textruta 45">
            <a:extLst>
              <a:ext uri="{FF2B5EF4-FFF2-40B4-BE49-F238E27FC236}">
                <a16:creationId xmlns:a16="http://schemas.microsoft.com/office/drawing/2014/main" id="{59686E7D-16E5-1CB5-8BA1-C418E93B21A6}"/>
              </a:ext>
            </a:extLst>
          </p:cNvPr>
          <p:cNvSpPr txBox="1"/>
          <p:nvPr/>
        </p:nvSpPr>
        <p:spPr>
          <a:xfrm>
            <a:off x="424181" y="9349703"/>
            <a:ext cx="5874261" cy="230831"/>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0" cap="none" spc="0" baseline="0">
                <a:solidFill>
                  <a:srgbClr val="004445"/>
                </a:solidFill>
                <a:uFillTx/>
                <a:latin typeface="Open Sans Light" pitchFamily="34"/>
                <a:ea typeface="Open Sans Light" pitchFamily="34"/>
                <a:cs typeface="Open Sans Light" pitchFamily="34"/>
                <a:hlinkClick r:id="rId4">
                  <a:extLst>
                    <a:ext uri="{A12FA001-AC4F-418D-AE19-62706E023703}">
                      <ahyp:hlinkClr xmlns:ahyp="http://schemas.microsoft.com/office/drawing/2018/hyperlinkcolor" val="tx"/>
                    </a:ext>
                  </a:extLst>
                </a:hlinkClick>
              </a:rPr>
              <a:t>info@rivus-batteries.com</a:t>
            </a:r>
            <a:r>
              <a:rPr lang="en-GB" sz="900" b="0" i="0" u="none" strike="noStrike" kern="0" cap="none" spc="0" baseline="0">
                <a:solidFill>
                  <a:srgbClr val="004445"/>
                </a:solidFill>
                <a:uFillTx/>
                <a:latin typeface="Open Sans Light" pitchFamily="34"/>
                <a:ea typeface="Open Sans Light" pitchFamily="34"/>
                <a:cs typeface="Open Sans Light" pitchFamily="34"/>
              </a:rPr>
              <a:t>                                0046 763 01 29 16                                   </a:t>
            </a:r>
            <a:r>
              <a:rPr lang="en-GB" sz="900" b="0" i="0" u="none" strike="noStrike" kern="0" cap="none" spc="0" baseline="0">
                <a:solidFill>
                  <a:srgbClr val="004445"/>
                </a:solidFill>
                <a:uFillTx/>
                <a:latin typeface="Open Sans Light" pitchFamily="34"/>
                <a:ea typeface="Open Sans Light" pitchFamily="34"/>
                <a:cs typeface="Open Sans Light" pitchFamily="34"/>
                <a:hlinkClick r:id="rId5">
                  <a:extLst>
                    <a:ext uri="{A12FA001-AC4F-418D-AE19-62706E023703}">
                      <ahyp:hlinkClr xmlns:ahyp="http://schemas.microsoft.com/office/drawing/2018/hyperlinkcolor" val="tx"/>
                    </a:ext>
                  </a:extLst>
                </a:hlinkClick>
              </a:rPr>
              <a:t>www.rivus-batteries.com</a:t>
            </a:r>
            <a:endParaRPr lang="en-GB" sz="900" b="0" i="0" u="none" strike="noStrike" kern="0" cap="none" spc="0" baseline="0">
              <a:solidFill>
                <a:srgbClr val="004445"/>
              </a:solidFill>
              <a:uFillTx/>
              <a:latin typeface="Open Sans Light" pitchFamily="34"/>
              <a:ea typeface="Open Sans Light" pitchFamily="34"/>
              <a:cs typeface="Open Sans Light" pitchFamily="34"/>
            </a:endParaRPr>
          </a:p>
        </p:txBody>
      </p:sp>
      <p:sp>
        <p:nvSpPr>
          <p:cNvPr id="3" name="ZoneTexte 2">
            <a:extLst>
              <a:ext uri="{FF2B5EF4-FFF2-40B4-BE49-F238E27FC236}">
                <a16:creationId xmlns:a16="http://schemas.microsoft.com/office/drawing/2014/main" id="{2D920C20-CB2B-6B57-B5D4-83F5ABFB0922}"/>
              </a:ext>
            </a:extLst>
          </p:cNvPr>
          <p:cNvSpPr txBox="1"/>
          <p:nvPr/>
        </p:nvSpPr>
        <p:spPr>
          <a:xfrm>
            <a:off x="314678" y="8781534"/>
            <a:ext cx="6187722" cy="184666"/>
          </a:xfrm>
          <a:prstGeom prst="rect">
            <a:avLst/>
          </a:prstGeom>
          <a:noFill/>
        </p:spPr>
        <p:txBody>
          <a:bodyPr wrap="square">
            <a:spAutoFit/>
          </a:bodyPr>
          <a:lstStyle/>
          <a:p>
            <a:r>
              <a:rPr lang="en-US" sz="600" dirty="0">
                <a:solidFill>
                  <a:srgbClr val="000000"/>
                </a:solidFill>
                <a:latin typeface="Montserrat"/>
                <a:ea typeface="Times New Roman" pitchFamily="18"/>
                <a:cs typeface="Times New Roman"/>
              </a:rPr>
              <a:t>* An annual profit of €</a:t>
            </a:r>
            <a:r>
              <a:rPr lang="en-US" sz="600" b="0" dirty="0">
                <a:solidFill>
                  <a:srgbClr val="000000"/>
                </a:solidFill>
                <a:latin typeface="Montserrat"/>
                <a:ea typeface="Times New Roman" pitchFamily="18"/>
                <a:cs typeface="Times New Roman"/>
              </a:rPr>
              <a:t>901.0 was made </a:t>
            </a:r>
            <a:endParaRPr lang="fr-FR" sz="600" dirty="0"/>
          </a:p>
        </p:txBody>
      </p:sp>
    </p:spTree>
    <p:extLst>
      <p:ext uri="{BB962C8B-B14F-4D97-AF65-F5344CB8AC3E}">
        <p14:creationId xmlns:p14="http://schemas.microsoft.com/office/powerpoint/2010/main" val="299985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1E0FE-CF60-AE95-0F68-8CE84817D44E}"/>
            </a:ext>
          </a:extLst>
        </p:cNvPr>
        <p:cNvGrpSpPr/>
        <p:nvPr/>
      </p:nvGrpSpPr>
      <p:grpSpPr>
        <a:xfrm>
          <a:off x="0" y="0"/>
          <a:ext cx="0" cy="0"/>
          <a:chOff x="0" y="0"/>
          <a:chExt cx="0" cy="0"/>
        </a:xfrm>
      </p:grpSpPr>
      <p:pic>
        <p:nvPicPr>
          <p:cNvPr id="2" name="Picture 15">
            <a:extLst>
              <a:ext uri="{FF2B5EF4-FFF2-40B4-BE49-F238E27FC236}">
                <a16:creationId xmlns:a16="http://schemas.microsoft.com/office/drawing/2014/main" id="{FC323426-5228-FA50-F863-47F8F239ECAD}"/>
              </a:ext>
            </a:extLst>
          </p:cNvPr>
          <p:cNvPicPr>
            <a:picLocks noChangeAspect="1"/>
          </p:cNvPicPr>
          <p:nvPr/>
        </p:nvPicPr>
        <p:blipFill>
          <a:blip r:embed="rId2"/>
          <a:stretch>
            <a:fillRect/>
          </a:stretch>
        </p:blipFill>
        <p:spPr>
          <a:xfrm>
            <a:off x="5227451" y="460775"/>
            <a:ext cx="1070991" cy="340769"/>
          </a:xfrm>
          <a:prstGeom prst="rect">
            <a:avLst/>
          </a:prstGeom>
          <a:noFill/>
          <a:ln cap="flat">
            <a:noFill/>
          </a:ln>
        </p:spPr>
      </p:pic>
      <p:sp>
        <p:nvSpPr>
          <p:cNvPr id="3" name="ZoneTexte 4113">
            <a:extLst>
              <a:ext uri="{FF2B5EF4-FFF2-40B4-BE49-F238E27FC236}">
                <a16:creationId xmlns:a16="http://schemas.microsoft.com/office/drawing/2014/main" id="{E2730144-5DEB-6CA8-9464-EA64FBF12997}"/>
              </a:ext>
            </a:extLst>
          </p:cNvPr>
          <p:cNvSpPr txBox="1"/>
          <p:nvPr/>
        </p:nvSpPr>
        <p:spPr>
          <a:xfrm>
            <a:off x="536451" y="1058216"/>
            <a:ext cx="5303520" cy="52078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0">
              <a:lnSpc>
                <a:spcPct val="115000"/>
              </a:lnSpc>
              <a:spcBef>
                <a:spcPts val="1200"/>
              </a:spcBef>
              <a:spcAft>
                <a:spcPts val="300"/>
              </a:spcAft>
              <a:buNone/>
              <a:tabLst/>
              <a:defRPr sz="1800" b="0" i="0" u="none" strike="noStrike" kern="0" cap="none" spc="0" baseline="0">
                <a:solidFill>
                  <a:srgbClr val="000000"/>
                </a:solidFill>
                <a:uFillTx/>
              </a:defRPr>
            </a:pPr>
            <a:r>
              <a:rPr lang="en-GB" sz="2600" b="1" i="0" u="none" strike="noStrike" kern="1200" cap="none" spc="0" baseline="0" dirty="0">
                <a:solidFill>
                  <a:srgbClr val="004445"/>
                </a:solidFill>
                <a:uFillTx/>
                <a:latin typeface="Roboto" pitchFamily="2"/>
                <a:ea typeface="Roboto" pitchFamily="2"/>
                <a:cs typeface="Roboto" pitchFamily="2"/>
              </a:rPr>
              <a:t>Simulation results in more detail</a:t>
            </a:r>
            <a:endParaRPr lang="en-GB" sz="2600" b="1" i="0" u="none" strike="noStrike" kern="1200" cap="none" spc="0" baseline="0" dirty="0">
              <a:solidFill>
                <a:srgbClr val="061F57"/>
              </a:solidFill>
              <a:uFillTx/>
              <a:latin typeface="Roboto" pitchFamily="2"/>
              <a:ea typeface="Roboto" pitchFamily="2"/>
              <a:cs typeface="Roboto" pitchFamily="2"/>
            </a:endParaRPr>
          </a:p>
        </p:txBody>
      </p:sp>
      <p:pic>
        <p:nvPicPr>
          <p:cNvPr id="5" name="Image 8" descr="Une image contenant texte, capture d’écran, Caractère coloré&#10;&#10;Le contenu généré par l’IA peut être incorrect.">
            <a:extLst>
              <a:ext uri="{FF2B5EF4-FFF2-40B4-BE49-F238E27FC236}">
                <a16:creationId xmlns:a16="http://schemas.microsoft.com/office/drawing/2014/main" id="{C8D69C90-F035-BE6A-92DB-68222A4BF7F0}"/>
              </a:ext>
            </a:extLst>
          </p:cNvPr>
          <p:cNvPicPr>
            <a:picLocks noChangeAspect="1"/>
          </p:cNvPicPr>
          <p:nvPr/>
        </p:nvPicPr>
        <p:blipFill>
          <a:blip r:embed="rId3"/>
          <a:srcRect/>
          <a:stretch>
            <a:fillRect/>
          </a:stretch>
        </p:blipFill>
        <p:spPr>
          <a:xfrm>
            <a:off x="424181" y="3077495"/>
            <a:ext cx="5214932" cy="3916366"/>
          </a:xfrm>
          <a:prstGeom prst="rect">
            <a:avLst/>
          </a:prstGeom>
          <a:noFill/>
          <a:ln cap="flat">
            <a:noFill/>
          </a:ln>
        </p:spPr>
      </p:pic>
      <p:sp>
        <p:nvSpPr>
          <p:cNvPr id="6" name="textruta 6">
            <a:extLst>
              <a:ext uri="{FF2B5EF4-FFF2-40B4-BE49-F238E27FC236}">
                <a16:creationId xmlns:a16="http://schemas.microsoft.com/office/drawing/2014/main" id="{346BDBBA-8289-EA7A-F8E5-963851349B37}"/>
              </a:ext>
            </a:extLst>
          </p:cNvPr>
          <p:cNvSpPr txBox="1"/>
          <p:nvPr/>
        </p:nvSpPr>
        <p:spPr>
          <a:xfrm>
            <a:off x="5776465" y="4609060"/>
            <a:ext cx="886711" cy="83099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800" b="0" i="1" u="none" strike="noStrike" kern="0" cap="none" spc="0" baseline="0" dirty="0">
                <a:solidFill>
                  <a:srgbClr val="000000"/>
                </a:solidFill>
                <a:uFillTx/>
                <a:latin typeface="Montserrat" pitchFamily="2"/>
                <a:ea typeface="MS Mincho" pitchFamily="49"/>
                <a:cs typeface="Times New Roman" pitchFamily="18"/>
              </a:rPr>
              <a:t>Electricity price (yellow) and the battery’s state of charge (pink)</a:t>
            </a:r>
            <a:endParaRPr lang="en-GB" sz="1400" b="0" i="0" u="none" strike="noStrike" kern="0" cap="none" spc="0" baseline="0" dirty="0">
              <a:solidFill>
                <a:srgbClr val="020F1E"/>
              </a:solidFill>
              <a:uFillTx/>
              <a:latin typeface="Arial" pitchFamily="34"/>
              <a:ea typeface="Sweco Sans"/>
              <a:cs typeface="Sweco Sans"/>
            </a:endParaRPr>
          </a:p>
        </p:txBody>
      </p:sp>
      <p:sp>
        <p:nvSpPr>
          <p:cNvPr id="7" name="Text Box 81">
            <a:extLst>
              <a:ext uri="{FF2B5EF4-FFF2-40B4-BE49-F238E27FC236}">
                <a16:creationId xmlns:a16="http://schemas.microsoft.com/office/drawing/2014/main" id="{27BC16D9-5ECC-54A3-E7A5-BE65F01E1BE8}"/>
              </a:ext>
            </a:extLst>
          </p:cNvPr>
          <p:cNvSpPr txBox="1"/>
          <p:nvPr/>
        </p:nvSpPr>
        <p:spPr>
          <a:xfrm>
            <a:off x="5776465" y="3453405"/>
            <a:ext cx="886711" cy="83099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800" b="0" i="1" u="none" strike="noStrike" kern="0" cap="none" spc="0" baseline="0">
                <a:solidFill>
                  <a:srgbClr val="000000"/>
                </a:solidFill>
                <a:uFillTx/>
                <a:latin typeface="Montserrat" pitchFamily="2"/>
                <a:ea typeface="MS Mincho" pitchFamily="49"/>
                <a:cs typeface="Times New Roman" pitchFamily="18"/>
              </a:rPr>
              <a:t>Amount of energy charged (black) and discharged (blue)</a:t>
            </a:r>
            <a:endParaRPr lang="en-GB" sz="1400" b="0" i="0" u="none" strike="noStrike" kern="0" cap="none" spc="0" baseline="0">
              <a:solidFill>
                <a:srgbClr val="020F1E"/>
              </a:solidFill>
              <a:uFillTx/>
              <a:latin typeface="Arial" pitchFamily="34"/>
              <a:ea typeface="Sweco Sans"/>
              <a:cs typeface="Sweco Sans"/>
            </a:endParaRPr>
          </a:p>
        </p:txBody>
      </p:sp>
      <p:cxnSp>
        <p:nvCxnSpPr>
          <p:cNvPr id="8" name="Straight Arrow Connector 4">
            <a:extLst>
              <a:ext uri="{FF2B5EF4-FFF2-40B4-BE49-F238E27FC236}">
                <a16:creationId xmlns:a16="http://schemas.microsoft.com/office/drawing/2014/main" id="{CECBD4A7-9073-8F15-3F64-B45AE2186D7F}"/>
              </a:ext>
            </a:extLst>
          </p:cNvPr>
          <p:cNvCxnSpPr/>
          <p:nvPr/>
        </p:nvCxnSpPr>
        <p:spPr>
          <a:xfrm flipH="1">
            <a:off x="5084064" y="4056296"/>
            <a:ext cx="749295" cy="81574"/>
          </a:xfrm>
          <a:prstGeom prst="straightConnector1">
            <a:avLst/>
          </a:prstGeom>
          <a:noFill/>
          <a:ln w="6345" cap="flat">
            <a:solidFill>
              <a:srgbClr val="FF9500"/>
            </a:solidFill>
            <a:prstDash val="solid"/>
            <a:miter/>
            <a:tailEnd type="arrow"/>
          </a:ln>
        </p:spPr>
      </p:cxnSp>
      <p:cxnSp>
        <p:nvCxnSpPr>
          <p:cNvPr id="9" name="Straight Arrow Connector 6">
            <a:extLst>
              <a:ext uri="{FF2B5EF4-FFF2-40B4-BE49-F238E27FC236}">
                <a16:creationId xmlns:a16="http://schemas.microsoft.com/office/drawing/2014/main" id="{45B512F7-DB4C-EAA2-1100-F50F18EB2C8A}"/>
              </a:ext>
            </a:extLst>
          </p:cNvPr>
          <p:cNvCxnSpPr/>
          <p:nvPr/>
        </p:nvCxnSpPr>
        <p:spPr>
          <a:xfrm flipH="1">
            <a:off x="5084064" y="3811594"/>
            <a:ext cx="749295" cy="81573"/>
          </a:xfrm>
          <a:prstGeom prst="straightConnector1">
            <a:avLst/>
          </a:prstGeom>
          <a:noFill/>
          <a:ln w="6345" cap="flat">
            <a:solidFill>
              <a:srgbClr val="FF9500"/>
            </a:solidFill>
            <a:prstDash val="solid"/>
            <a:miter/>
            <a:tailEnd type="arrow"/>
          </a:ln>
        </p:spPr>
      </p:cxnSp>
      <p:sp>
        <p:nvSpPr>
          <p:cNvPr id="10" name="textruta 6">
            <a:extLst>
              <a:ext uri="{FF2B5EF4-FFF2-40B4-BE49-F238E27FC236}">
                <a16:creationId xmlns:a16="http://schemas.microsoft.com/office/drawing/2014/main" id="{1E14BA2C-9034-673D-C181-43E6F440BBAD}"/>
              </a:ext>
            </a:extLst>
          </p:cNvPr>
          <p:cNvSpPr txBox="1"/>
          <p:nvPr/>
        </p:nvSpPr>
        <p:spPr>
          <a:xfrm>
            <a:off x="5776465" y="5838425"/>
            <a:ext cx="886711" cy="83099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800" b="0" i="1" u="none" strike="noStrike" kern="0" cap="none" spc="0" baseline="0">
                <a:solidFill>
                  <a:srgbClr val="000000"/>
                </a:solidFill>
                <a:uFillTx/>
                <a:latin typeface="Montserrat"/>
                <a:ea typeface="MS Mincho"/>
                <a:cs typeface="Times New Roman"/>
              </a:rPr>
              <a:t>Bid quantity of ancillary services for the various capacity markets</a:t>
            </a:r>
            <a:endParaRPr lang="en-GB" sz="1400" b="0" i="0" u="none" strike="noStrike" kern="0" cap="none" spc="0" baseline="0">
              <a:solidFill>
                <a:srgbClr val="020F1E"/>
              </a:solidFill>
              <a:uFillTx/>
              <a:latin typeface="Montserrat"/>
              <a:ea typeface="MS Mincho"/>
              <a:cs typeface="Times New Roman"/>
            </a:endParaRPr>
          </a:p>
        </p:txBody>
      </p:sp>
      <p:sp>
        <p:nvSpPr>
          <p:cNvPr id="11" name="ZoneTexte 19">
            <a:extLst>
              <a:ext uri="{FF2B5EF4-FFF2-40B4-BE49-F238E27FC236}">
                <a16:creationId xmlns:a16="http://schemas.microsoft.com/office/drawing/2014/main" id="{E3826300-7508-CDDA-1027-744BF40FCF08}"/>
              </a:ext>
            </a:extLst>
          </p:cNvPr>
          <p:cNvSpPr txBox="1"/>
          <p:nvPr/>
        </p:nvSpPr>
        <p:spPr>
          <a:xfrm>
            <a:off x="398897" y="7270769"/>
            <a:ext cx="5779904" cy="114518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0">
              <a:lnSpc>
                <a:spcPct val="125000"/>
              </a:lnSpc>
              <a:spcBef>
                <a:spcPts val="0"/>
              </a:spcBef>
              <a:spcAft>
                <a:spcPts val="0"/>
              </a:spcAft>
              <a:buNone/>
              <a:tabLst/>
              <a:defRPr sz="1800" b="0" i="0" u="none" strike="noStrike" kern="0" cap="none" spc="0" baseline="0">
                <a:solidFill>
                  <a:srgbClr val="000000"/>
                </a:solidFill>
                <a:uFillTx/>
              </a:defRPr>
            </a:pPr>
            <a:r>
              <a:rPr lang="en-GB" sz="1050" b="1" i="0" u="none" strike="noStrike" kern="0" cap="none" spc="0" baseline="0" dirty="0">
                <a:solidFill>
                  <a:srgbClr val="020F1E"/>
                </a:solidFill>
                <a:uFillTx/>
                <a:latin typeface="Montserrat"/>
                <a:ea typeface="Sweco Sans"/>
                <a:cs typeface="Sweco Sans"/>
              </a:rPr>
              <a:t>Key assumptions and parameters</a:t>
            </a:r>
          </a:p>
          <a:p>
            <a:pPr marL="0" marR="0" lvl="0" indent="0" algn="l" defTabSz="914400" rtl="0" fontAlgn="auto" hangingPunct="0">
              <a:lnSpc>
                <a:spcPct val="125000"/>
              </a:lnSpc>
              <a:spcBef>
                <a:spcPts val="0"/>
              </a:spcBef>
              <a:spcAft>
                <a:spcPts val="0"/>
              </a:spcAft>
              <a:buNone/>
              <a:tabLst/>
              <a:defRPr sz="1800" b="0" i="0" u="none" strike="noStrike" kern="0" cap="none" spc="0" baseline="0">
                <a:solidFill>
                  <a:srgbClr val="000000"/>
                </a:solidFill>
                <a:uFillTx/>
              </a:defRPr>
            </a:pPr>
            <a:r>
              <a:rPr lang="en-GB" sz="900" b="0" i="0" u="none" strike="noStrike" kern="0" cap="none" spc="0" baseline="0" dirty="0">
                <a:solidFill>
                  <a:srgbClr val="020F1E"/>
                </a:solidFill>
                <a:uFillTx/>
                <a:latin typeface="Montserrat"/>
                <a:ea typeface="Sweco Sans"/>
                <a:cs typeface="Sweco Sans"/>
              </a:rPr>
              <a:t>Electricity cost		</a:t>
            </a:r>
            <a:r>
              <a:rPr lang="en-US" sz="900" b="0" i="0" u="none" strike="noStrike" kern="0" cap="none" spc="0" baseline="0" dirty="0">
                <a:solidFill>
                  <a:srgbClr val="020F1E"/>
                </a:solidFill>
                <a:uFillTx/>
                <a:latin typeface="Montserrat"/>
                <a:ea typeface="Sweco Sans"/>
                <a:cs typeface="Sweco Sans"/>
              </a:rPr>
              <a:t>Day-ahead prices SE3, repeated over lifetime </a:t>
            </a:r>
          </a:p>
          <a:p>
            <a:pPr marL="0" marR="0" lvl="0" indent="0" algn="l" defTabSz="914400" rtl="0" fontAlgn="auto" hangingPunct="0">
              <a:lnSpc>
                <a:spcPct val="125000"/>
              </a:lnSpc>
              <a:spcBef>
                <a:spcPts val="0"/>
              </a:spcBef>
              <a:spcAft>
                <a:spcPts val="0"/>
              </a:spcAft>
              <a:buNone/>
              <a:tabLst/>
              <a:defRPr sz="1800" b="0" i="0" u="none" strike="noStrike" kern="0" cap="none" spc="0" baseline="0">
                <a:solidFill>
                  <a:srgbClr val="000000"/>
                </a:solidFill>
                <a:uFillTx/>
              </a:defRPr>
            </a:pPr>
            <a:r>
              <a:rPr lang="en-GB" sz="900" b="0" i="0" u="none" strike="noStrike" kern="0" cap="none" spc="0" baseline="0" dirty="0">
                <a:solidFill>
                  <a:srgbClr val="020F1E"/>
                </a:solidFill>
                <a:uFillTx/>
                <a:latin typeface="Montserrat"/>
                <a:ea typeface="Sweco Sans"/>
                <a:cs typeface="Sweco Sans"/>
              </a:rPr>
              <a:t>Ancillary market revenue	</a:t>
            </a:r>
            <a:r>
              <a:rPr lang="en-US" sz="900" b="0" i="0" u="none" strike="noStrike" kern="0" cap="none" spc="0" baseline="0" dirty="0">
                <a:solidFill>
                  <a:srgbClr val="020F1E"/>
                </a:solidFill>
                <a:uFillTx/>
                <a:latin typeface="Montserrat"/>
                <a:ea typeface="Sweco Sans"/>
                <a:cs typeface="Sweco Sans"/>
              </a:rPr>
              <a:t>Participation in FCR-N,FCR-D up/down, </a:t>
            </a:r>
            <a:r>
              <a:rPr lang="en-US" sz="900" b="0" i="1" u="none" strike="noStrike" kern="0" cap="none" spc="0" baseline="0" dirty="0">
                <a:solidFill>
                  <a:srgbClr val="020F1E"/>
                </a:solidFill>
                <a:uFillTx/>
                <a:latin typeface="Montserrat"/>
                <a:ea typeface="Sweco Sans"/>
                <a:cs typeface="Sweco Sans"/>
              </a:rPr>
              <a:t>mimer.svk.se </a:t>
            </a:r>
          </a:p>
          <a:p>
            <a:pPr marL="0" marR="0" lvl="0" indent="0" algn="l" defTabSz="914400" rtl="0" fontAlgn="auto" hangingPunct="0">
              <a:lnSpc>
                <a:spcPct val="125000"/>
              </a:lnSpc>
              <a:spcBef>
                <a:spcPts val="0"/>
              </a:spcBef>
              <a:spcAft>
                <a:spcPts val="0"/>
              </a:spcAft>
              <a:buNone/>
              <a:tabLst/>
              <a:defRPr sz="1800" b="0" i="0" u="none" strike="noStrike" kern="0" cap="none" spc="0" baseline="0">
                <a:solidFill>
                  <a:srgbClr val="000000"/>
                </a:solidFill>
                <a:uFillTx/>
              </a:defRPr>
            </a:pPr>
            <a:r>
              <a:rPr lang="en-GB" sz="900" b="0" i="0" u="none" strike="noStrike" kern="0" cap="none" spc="0" baseline="0" dirty="0">
                <a:solidFill>
                  <a:srgbClr val="020F1E"/>
                </a:solidFill>
                <a:uFillTx/>
                <a:latin typeface="Montserrat"/>
                <a:ea typeface="Sweco Sans"/>
                <a:cs typeface="Sweco Sans"/>
              </a:rPr>
              <a:t>Grid fees costs saved	Effect of peak shaving on demand charges (4 €/kW)</a:t>
            </a:r>
          </a:p>
          <a:p>
            <a:pPr marL="0" marR="0" lvl="0" indent="0" algn="l" defTabSz="914400" rtl="0" fontAlgn="auto" hangingPunct="0">
              <a:lnSpc>
                <a:spcPct val="125000"/>
              </a:lnSpc>
              <a:spcBef>
                <a:spcPts val="0"/>
              </a:spcBef>
              <a:spcAft>
                <a:spcPts val="0"/>
              </a:spcAft>
              <a:buNone/>
              <a:tabLst/>
              <a:defRPr sz="1800" b="0" i="0" u="none" strike="noStrike" kern="0" cap="none" spc="0" baseline="0">
                <a:solidFill>
                  <a:srgbClr val="000000"/>
                </a:solidFill>
                <a:uFillTx/>
              </a:defRPr>
            </a:pPr>
            <a:r>
              <a:rPr lang="en-US" sz="900" b="0" i="0" u="none" strike="noStrike" kern="0" cap="none" spc="0" baseline="0" dirty="0">
                <a:solidFill>
                  <a:srgbClr val="020F1E"/>
                </a:solidFill>
                <a:uFillTx/>
                <a:latin typeface="Montserrat"/>
                <a:ea typeface="Sweco Sans"/>
                <a:cs typeface="Sweco Sans"/>
              </a:rPr>
              <a:t>Operating SOC window:	100% </a:t>
            </a:r>
          </a:p>
          <a:p>
            <a:pPr marL="0" marR="0" lvl="0" indent="0" algn="l" defTabSz="914400" rtl="0" fontAlgn="auto" hangingPunct="0">
              <a:lnSpc>
                <a:spcPct val="125000"/>
              </a:lnSpc>
              <a:spcBef>
                <a:spcPts val="0"/>
              </a:spcBef>
              <a:spcAft>
                <a:spcPts val="0"/>
              </a:spcAft>
              <a:buNone/>
              <a:tabLst/>
              <a:defRPr sz="1800" b="0" i="0" u="none" strike="noStrike" kern="0" cap="none" spc="0" baseline="0">
                <a:solidFill>
                  <a:srgbClr val="000000"/>
                </a:solidFill>
                <a:uFillTx/>
              </a:defRPr>
            </a:pPr>
            <a:r>
              <a:rPr lang="en-GB" sz="900" b="0" i="0" u="none" strike="noStrike" kern="0" cap="none" spc="0" baseline="0" dirty="0">
                <a:solidFill>
                  <a:srgbClr val="020F1E"/>
                </a:solidFill>
                <a:uFillTx/>
                <a:latin typeface="Montserrat"/>
                <a:ea typeface="Sweco Sans"/>
                <a:cs typeface="Sweco Sans"/>
              </a:rPr>
              <a:t>IRR/NPV		N/A – not used in the simulation</a:t>
            </a:r>
          </a:p>
        </p:txBody>
      </p:sp>
      <p:sp>
        <p:nvSpPr>
          <p:cNvPr id="12" name="Rectangle 84">
            <a:extLst>
              <a:ext uri="{FF2B5EF4-FFF2-40B4-BE49-F238E27FC236}">
                <a16:creationId xmlns:a16="http://schemas.microsoft.com/office/drawing/2014/main" id="{6211C8C0-37B7-4219-9259-260B26351982}"/>
              </a:ext>
            </a:extLst>
          </p:cNvPr>
          <p:cNvSpPr/>
          <p:nvPr/>
        </p:nvSpPr>
        <p:spPr>
          <a:xfrm>
            <a:off x="396282" y="8628077"/>
            <a:ext cx="5782519" cy="369335"/>
          </a:xfrm>
          <a:prstGeom prst="rect">
            <a:avLst/>
          </a:prstGeom>
          <a:noFill/>
          <a:ln cap="flat">
            <a:noFill/>
            <a:prstDash val="solid"/>
          </a:ln>
        </p:spPr>
        <p:txBody>
          <a:bodyPr vert="horz" wrap="square" lIns="91440" tIns="45720" rIns="91440" bIns="45720" anchor="ctr"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US" sz="900" b="0" i="0" u="none" strike="noStrike" kern="0" cap="none" spc="0" baseline="0" dirty="0">
                <a:solidFill>
                  <a:srgbClr val="020F1E"/>
                </a:solidFill>
                <a:uFillTx/>
                <a:latin typeface="Montserrat" pitchFamily="2"/>
                <a:ea typeface="MS Mincho" pitchFamily="49"/>
                <a:cs typeface="Calibri" pitchFamily="34"/>
              </a:rPr>
              <a:t>If you’d like to move forward, we’d be happy to outline the next steps! Just let us know if you have any questions. We are ready to deliver the 25 kW, 150-kWh battery in 2027.</a:t>
            </a:r>
            <a:endParaRPr lang="en-GB" sz="900" b="0" i="0" u="none" strike="noStrike" kern="0" cap="none" spc="0" baseline="0" dirty="0">
              <a:solidFill>
                <a:srgbClr val="020F1E"/>
              </a:solidFill>
              <a:uFillTx/>
              <a:latin typeface="Montserrat" pitchFamily="2"/>
              <a:ea typeface="Sweco Sans"/>
              <a:cs typeface="Sweco Sans"/>
            </a:endParaRPr>
          </a:p>
        </p:txBody>
      </p:sp>
      <p:sp>
        <p:nvSpPr>
          <p:cNvPr id="13" name="textruta 45">
            <a:extLst>
              <a:ext uri="{FF2B5EF4-FFF2-40B4-BE49-F238E27FC236}">
                <a16:creationId xmlns:a16="http://schemas.microsoft.com/office/drawing/2014/main" id="{60C52239-FFE5-1361-6A4E-386EC6E8217C}"/>
              </a:ext>
            </a:extLst>
          </p:cNvPr>
          <p:cNvSpPr txBox="1"/>
          <p:nvPr/>
        </p:nvSpPr>
        <p:spPr>
          <a:xfrm>
            <a:off x="424181" y="9349703"/>
            <a:ext cx="5874261" cy="230831"/>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0" cap="none" spc="0" baseline="0" dirty="0">
                <a:solidFill>
                  <a:srgbClr val="004445"/>
                </a:solidFill>
                <a:uFillTx/>
                <a:latin typeface="Open Sans Light" pitchFamily="34"/>
                <a:ea typeface="Open Sans Light" pitchFamily="34"/>
                <a:cs typeface="Open Sans Light" pitchFamily="34"/>
                <a:hlinkClick r:id="rId4">
                  <a:extLst>
                    <a:ext uri="{A12FA001-AC4F-418D-AE19-62706E023703}">
                      <ahyp:hlinkClr xmlns:ahyp="http://schemas.microsoft.com/office/drawing/2018/hyperlinkcolor" val="tx"/>
                    </a:ext>
                  </a:extLst>
                </a:hlinkClick>
              </a:rPr>
              <a:t>info@rivus-batteries.com</a:t>
            </a:r>
            <a:r>
              <a:rPr lang="en-GB" sz="900" b="0" i="0" u="none" strike="noStrike" kern="0" cap="none" spc="0" baseline="0" dirty="0">
                <a:solidFill>
                  <a:srgbClr val="004445"/>
                </a:solidFill>
                <a:uFillTx/>
                <a:latin typeface="Open Sans Light" pitchFamily="34"/>
                <a:ea typeface="Open Sans Light" pitchFamily="34"/>
                <a:cs typeface="Open Sans Light" pitchFamily="34"/>
              </a:rPr>
              <a:t>                                0046 763 01 29 16                                   </a:t>
            </a:r>
            <a:r>
              <a:rPr lang="en-GB" sz="900" b="0" i="0" u="none" strike="noStrike" kern="0" cap="none" spc="0" baseline="0" dirty="0">
                <a:solidFill>
                  <a:srgbClr val="004445"/>
                </a:solidFill>
                <a:uFillTx/>
                <a:latin typeface="Open Sans Light" pitchFamily="34"/>
                <a:ea typeface="Open Sans Light" pitchFamily="34"/>
                <a:cs typeface="Open Sans Light" pitchFamily="34"/>
                <a:hlinkClick r:id="rId5">
                  <a:extLst>
                    <a:ext uri="{A12FA001-AC4F-418D-AE19-62706E023703}">
                      <ahyp:hlinkClr xmlns:ahyp="http://schemas.microsoft.com/office/drawing/2018/hyperlinkcolor" val="tx"/>
                    </a:ext>
                  </a:extLst>
                </a:hlinkClick>
              </a:rPr>
              <a:t>www.rivus-batteries.com</a:t>
            </a:r>
            <a:endParaRPr lang="en-GB" sz="900" b="0" i="0" u="none" strike="noStrike" kern="0" cap="none" spc="0" baseline="0" dirty="0">
              <a:solidFill>
                <a:srgbClr val="004445"/>
              </a:solidFill>
              <a:uFillTx/>
              <a:latin typeface="Open Sans Light" pitchFamily="34"/>
              <a:ea typeface="Open Sans Light" pitchFamily="34"/>
              <a:cs typeface="Open Sans Light" pitchFamily="34"/>
            </a:endParaRPr>
          </a:p>
        </p:txBody>
      </p:sp>
      <p:sp>
        <p:nvSpPr>
          <p:cNvPr id="14" name="Rectangle 13">
            <a:extLst>
              <a:ext uri="{FF2B5EF4-FFF2-40B4-BE49-F238E27FC236}">
                <a16:creationId xmlns:a16="http://schemas.microsoft.com/office/drawing/2014/main" id="{BB16E2C1-F290-FF9A-9EF7-34B995C46DA4}"/>
              </a:ext>
            </a:extLst>
          </p:cNvPr>
          <p:cNvSpPr/>
          <p:nvPr/>
        </p:nvSpPr>
        <p:spPr>
          <a:xfrm>
            <a:off x="2298358" y="1655805"/>
            <a:ext cx="840259" cy="271849"/>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check</a:t>
            </a:r>
          </a:p>
        </p:txBody>
      </p:sp>
      <p:sp>
        <p:nvSpPr>
          <p:cNvPr id="15" name="Rectangle 14">
            <a:extLst>
              <a:ext uri="{FF2B5EF4-FFF2-40B4-BE49-F238E27FC236}">
                <a16:creationId xmlns:a16="http://schemas.microsoft.com/office/drawing/2014/main" id="{50AE1E4D-B36B-F49D-A312-80FBE5CF1B17}"/>
              </a:ext>
            </a:extLst>
          </p:cNvPr>
          <p:cNvSpPr/>
          <p:nvPr/>
        </p:nvSpPr>
        <p:spPr>
          <a:xfrm>
            <a:off x="434499" y="1782988"/>
            <a:ext cx="5593585" cy="954107"/>
          </a:xfrm>
          <a:prstGeom prst="rect">
            <a:avLst/>
          </a:prstGeom>
          <a:noFill/>
          <a:ln cap="flat">
            <a:noFill/>
            <a:prstDash val="solid"/>
          </a:ln>
        </p:spPr>
        <p:txBody>
          <a:bodyPr vert="horz" wrap="square" lIns="91440" tIns="45720" rIns="91440" bIns="45720" anchor="ctr" anchorCtr="0" compatLnSpc="1">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hangingPunct="0">
              <a:defRPr sz="1800" b="0" i="0" u="none" strike="noStrike" kern="0" cap="none" spc="0" baseline="0">
                <a:solidFill>
                  <a:srgbClr val="000000"/>
                </a:solidFill>
                <a:uFillTx/>
              </a:defRPr>
            </a:pPr>
            <a:r>
              <a:rPr lang="en-GB" sz="1100" b="1" i="0" u="none" strike="noStrike" kern="0" cap="none" spc="0" baseline="0" dirty="0">
                <a:solidFill>
                  <a:srgbClr val="020F1E"/>
                </a:solidFill>
                <a:uFillTx/>
                <a:latin typeface="Montserrat"/>
                <a:ea typeface="MS Mincho"/>
                <a:cs typeface="Calibri"/>
              </a:rPr>
              <a:t>We invite those interested to explore the batteries’ behaviour. How? </a:t>
            </a:r>
            <a:r>
              <a:rPr lang="en-GB" sz="1100" b="0" i="0" u="none" strike="noStrike" kern="0" cap="none" spc="0" baseline="0" dirty="0">
                <a:solidFill>
                  <a:srgbClr val="020F1E"/>
                </a:solidFill>
                <a:uFillTx/>
                <a:latin typeface="Montserrat"/>
                <a:ea typeface="MS Mincho"/>
                <a:cs typeface="Calibri"/>
              </a:rPr>
              <a:t>Click on this </a:t>
            </a:r>
            <a:r>
              <a:rPr lang="en-GB" sz="1200" b="1" kern="0" dirty="0">
                <a:solidFill>
                  <a:srgbClr val="23A2FF"/>
                </a:solidFill>
                <a:latin typeface="Montserrat"/>
                <a:ea typeface="MS Mincho"/>
                <a:cs typeface="Calibri"/>
                <a:hlinkClick r:id="rId6">
                  <a:extLst>
                    <a:ext uri="{A12FA001-AC4F-418D-AE19-62706E023703}">
                      <ahyp:hlinkClr xmlns:ahyp="http://schemas.microsoft.com/office/drawing/2018/hyperlinkcolor" val="tx"/>
                    </a:ext>
                  </a:extLst>
                </a:hlinkClick>
              </a:rPr>
              <a:t>link </a:t>
            </a:r>
            <a:r>
              <a:rPr lang="en-GB" sz="1200" b="1" i="0" u="none" strike="noStrike" kern="0" cap="none" spc="0" baseline="0" dirty="0">
                <a:solidFill>
                  <a:srgbClr val="23A2FF"/>
                </a:solidFill>
                <a:uFillTx/>
                <a:latin typeface="Montserrat"/>
                <a:ea typeface="MS Mincho"/>
                <a:cs typeface="Calibri"/>
                <a:hlinkClick r:id="rId6">
                  <a:extLst>
                    <a:ext uri="{A12FA001-AC4F-418D-AE19-62706E023703}">
                      <ahyp:hlinkClr xmlns:ahyp="http://schemas.microsoft.com/office/drawing/2018/hyperlinkcolor" val="tx"/>
                    </a:ext>
                  </a:extLst>
                </a:hlinkClick>
              </a:rPr>
              <a:t>here</a:t>
            </a:r>
            <a:r>
              <a:rPr lang="en-GB" sz="1200" b="1" i="0" u="none" strike="noStrike" kern="0" cap="none" spc="0" baseline="0" dirty="0">
                <a:solidFill>
                  <a:srgbClr val="23A2FF"/>
                </a:solidFill>
                <a:uFillTx/>
                <a:latin typeface="Montserrat"/>
                <a:ea typeface="MS Mincho"/>
                <a:cs typeface="Calibri"/>
              </a:rPr>
              <a:t> </a:t>
            </a:r>
            <a:r>
              <a:rPr lang="en-GB" sz="1100" kern="0" dirty="0">
                <a:solidFill>
                  <a:srgbClr val="020F1E"/>
                </a:solidFill>
                <a:latin typeface="Montserrat"/>
                <a:ea typeface="MS Mincho"/>
                <a:cs typeface="Calibri"/>
              </a:rPr>
              <a:t>and use the controls to select the cases as seen in the findings sheet above to learn more! </a:t>
            </a: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1100" b="0" i="0" u="none" strike="noStrike" kern="0" cap="none" spc="0" baseline="0" dirty="0">
                <a:solidFill>
                  <a:srgbClr val="020F1E"/>
                </a:solidFill>
                <a:uFillTx/>
                <a:latin typeface="Montserrat"/>
                <a:ea typeface="MS Mincho"/>
                <a:cs typeface="Calibri"/>
              </a:rPr>
              <a:t>The graphs below also gives an overview how the battery is used to maximize revenue and find the shortest payback time. </a:t>
            </a:r>
            <a:endParaRPr lang="en-GB" sz="1400" b="0" i="0" u="none" strike="noStrike" kern="0" cap="none" spc="0" baseline="0" dirty="0">
              <a:solidFill>
                <a:srgbClr val="020F1E"/>
              </a:solidFill>
              <a:uFillTx/>
              <a:latin typeface="Montserrat" pitchFamily="2"/>
              <a:ea typeface="Sweco Sans"/>
              <a:cs typeface="Sweco Sans"/>
            </a:endParaRPr>
          </a:p>
        </p:txBody>
      </p:sp>
    </p:spTree>
    <p:extLst>
      <p:ext uri="{BB962C8B-B14F-4D97-AF65-F5344CB8AC3E}">
        <p14:creationId xmlns:p14="http://schemas.microsoft.com/office/powerpoint/2010/main" val="68790780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183</TotalTime>
  <Words>912</Words>
  <Application>Microsoft Office PowerPoint</Application>
  <PresentationFormat>Personnalisé</PresentationFormat>
  <Paragraphs>170</Paragraphs>
  <Slides>3</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3</vt:i4>
      </vt:variant>
    </vt:vector>
  </HeadingPairs>
  <TitlesOfParts>
    <vt:vector size="12" baseType="lpstr">
      <vt:lpstr>Aptos</vt:lpstr>
      <vt:lpstr>Aptos Display</vt:lpstr>
      <vt:lpstr>Arial</vt:lpstr>
      <vt:lpstr>Montserrat</vt:lpstr>
      <vt:lpstr>Open Sans Light</vt:lpstr>
      <vt:lpstr>Roboto</vt:lpstr>
      <vt:lpstr>Roboto Light</vt:lpstr>
      <vt:lpstr>Sweco Sans</vt:lpstr>
      <vt:lpstr>Thème Office</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Meie Kleijburg</dc:creator>
  <cp:lastModifiedBy>Meie Kleijburg</cp:lastModifiedBy>
  <cp:revision>75</cp:revision>
  <dcterms:created xsi:type="dcterms:W3CDTF">2026-01-05T16:38:55Z</dcterms:created>
  <dcterms:modified xsi:type="dcterms:W3CDTF">2026-02-24T12:44:59Z</dcterms:modified>
</cp:coreProperties>
</file>